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2" r:id="rId13"/>
    <p:sldId id="261" r:id="rId12"/>
    <p:sldId id="263" r:id="rId14"/>
    <p:sldId id="275" r:id="rId26"/>
    <p:sldId id="266" r:id="rId17"/>
    <p:sldId id="274" r:id="rId25"/>
    <p:sldId id="267" r:id="rId18"/>
    <p:sldId id="268" r:id="rId19"/>
    <p:sldId id="273" r:id="rId24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5.xml"/><Relationship Id="rId14" Type="http://schemas.openxmlformats.org/officeDocument/2006/relationships/slide" Target="slides/slide7.xml"/><Relationship Id="rId17" Type="http://schemas.openxmlformats.org/officeDocument/2006/relationships/slide" Target="slides/slide9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4" Type="http://schemas.openxmlformats.org/officeDocument/2006/relationships/slide" Target="slides/slide13.xml"/><Relationship Id="rId25" Type="http://schemas.openxmlformats.org/officeDocument/2006/relationships/slide" Target="slides/slide10.xml"/><Relationship Id="rId26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4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Relationship Id="rId6" Type="http://schemas.openxmlformats.org/officeDocument/2006/relationships/image" Target="../media/image4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35.png"/><Relationship Id="rId6" Type="http://schemas.openxmlformats.org/officeDocument/2006/relationships/image" Target="../media/image4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3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ALFA-MANIA · ПРОДУКТОВАЯ 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Явная цена на кнопке</a:t>
            </a:r>
          </a:p>
          <a:p>
            <a:pPr algn="l">
              <a:lnSpc>
                <a:spcPct val="108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«Купить билет»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FFFFFF"/>
                </a:solidFill>
                <a:latin typeface="Arial"/>
              </a:rPr>
              <a:t>Что доказано, а что нет: полный разбор гипотез, методологии и причинных эффектов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06.10.2026 · Окно данных 27.07–04.10.2026 · Квазиэксперимент, без A/B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A1A"/>
                </a:solidFill>
                <a:latin typeface="Arial"/>
              </a:rPr>
              <a:t>Что изменилось 14.09.2026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480560" cy="1051560"/>
          </a:xfrm>
          <a:prstGeom prst="roundRect">
            <a:avLst>
              <a:gd name="adj" fmla="val 15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480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1A1A1A"/>
                </a:solidFill>
                <a:latin typeface="Arial"/>
              </a:rPr>
              <a:t>«Купить билет»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До 14.09 — цена скрыта за выбором пакета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05740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 i="0">
                <a:solidFill>
                  <a:srgbClr val="EF3124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4480560" cy="1051560"/>
          </a:xfrm>
          <a:prstGeom prst="roundRect">
            <a:avLst>
              <a:gd name="adj" fmla="val 15000"/>
            </a:avLst>
          </a:prstGeom>
          <a:solidFill>
            <a:srgbClr val="EF3124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480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«Купить билет за 200 ₽»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С 14.09 — цена единичного билета явная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A1A1A"/>
                </a:solidFill>
                <a:latin typeface="Arial"/>
              </a:rPr>
              <a:t>Продуктовая гипотеза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149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Arial"/>
              </a:rPr>
              <a:t>Скрытая цена повышала воспринимаемый порог входа и отпугивала часть клиентов от первой покупки. То же изменение затронуло вторую точку входа — баннер на вкладке «Выгода».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257800"/>
            <a:ext cx="10149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39496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Это квазиэксперимент, не A/B. Контрольной группы нет — 100% трафика увидело новую кнопку одновременно. Все выводы ниже компенсируют отсутствие рандомизации причинными методами.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МЕТОДОЛОГИЯ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A1A"/>
                </a:solidFill>
                <a:latin typeface="Arial"/>
              </a:rPr>
              <a:t>Как проверяли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6E6657"/>
                </a:solidFill>
                <a:latin typeface="Arial"/>
              </a:rPr>
              <a:t>Vertica event_log, окно 27.07–04.10.2026 (49 дней до изменения, 21 после). Тиражи 1–13 исключены.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514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500" b="1" i="0">
                <a:solidFill>
                  <a:srgbClr val="EF3124"/>
                </a:solidFill>
                <a:latin typeface="Arial"/>
              </a:rPr>
              <a:t>1 042 737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6E6657"/>
                </a:solidFill>
                <a:latin typeface="Arial"/>
              </a:rPr>
              <a:t>просмотров главного экрана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11680"/>
            <a:ext cx="2514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1488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500" b="1" i="0">
                <a:solidFill>
                  <a:srgbClr val="EF3124"/>
                </a:solidFill>
                <a:latin typeface="Arial"/>
              </a:rPr>
              <a:t>276 370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6974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6E6657"/>
                </a:solidFill>
                <a:latin typeface="Arial"/>
              </a:rPr>
              <a:t>завершённых покупок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2011680"/>
            <a:ext cx="2514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21488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500" b="1" i="0">
                <a:solidFill>
                  <a:srgbClr val="EF3124"/>
                </a:solidFill>
                <a:latin typeface="Arial"/>
              </a:rPr>
              <a:t>159 027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6974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6E6657"/>
                </a:solidFill>
                <a:latin typeface="Arial"/>
              </a:rPr>
              <a:t>покупок на экране кнопки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011680"/>
            <a:ext cx="25146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7384" y="21488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500" b="1" i="0">
                <a:solidFill>
                  <a:srgbClr val="EF3124"/>
                </a:solidFill>
                <a:latin typeface="Arial"/>
              </a:rPr>
              <a:t>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26974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6E6657"/>
                </a:solidFill>
                <a:latin typeface="Arial"/>
              </a:rPr>
              <a:t>дней в окне анализа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11880"/>
            <a:ext cx="64008" cy="56692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93592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1A1A"/>
                </a:solidFill>
                <a:latin typeface="Arial"/>
              </a:rPr>
              <a:t>Единица наблюдения — день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593592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не отдельная покупка: агрегированные тесты по сырым счётчикам систематически завышают значимость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361688"/>
            <a:ext cx="64008" cy="56692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1A1A"/>
                </a:solidFill>
                <a:latin typeface="Arial"/>
              </a:rPr>
              <a:t>ITS-регрессия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343400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метрика ~ post + линейный тренд + день недели + день тиража, SE кластеризованы по неделям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11496"/>
            <a:ext cx="64008" cy="56692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93208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1A1A"/>
                </a:solidFill>
                <a:latin typeface="Arial"/>
              </a:rPr>
              <a:t>Within-screen дизайн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093208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пакеты как честный внутренний контроль для одиночных билетов — вместо ненадёжного внешнего донор-пула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861304"/>
            <a:ext cx="64008" cy="566928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843016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1A1A"/>
                </a:solidFill>
                <a:latin typeface="Arial"/>
              </a:rPr>
              <a:t>Двойная проверка устойчивости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843016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каждый вывод — минимум две независимые модели (другая спецификация / другой метод)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НАХОДКА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Покупки одиночных билетов выросли сверх тренда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3F1E6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1F7A3D"/>
                </a:solidFill>
                <a:latin typeface="Arial"/>
              </a:rPr>
              <a:t>Подтверждено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Ежедневное число покупок одиночных билетов выросло на 47.4% относительно уже имеющегося линейного тренда — это рост сверх того, что происходило бы и без изменения кнопки.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Люди и раньше покупали одиночные билеты, и их число росло само по себе. После 14.09 рост стал заметно быстрее, чем предсказывал этот уже идущий тренд.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+47.4%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к тренду, p = 0.023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+35.1%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сырой рост покупок (без поправки на тренд)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0060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87375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+2.2%, н/з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30352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по выручке — рост в штуках не даёт такого же роста в деньгах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897880"/>
            <a:ext cx="3611880" cy="7772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96188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657"/>
                </a:solidFill>
                <a:latin typeface="Arial"/>
              </a:rPr>
              <a:t>Метод: DiD в лог-шкале, log(покупки) ~ группа×post + тренд + день недели + день тиража.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3</a:t>
            </a:r>
          </a:p>
        </p:txBody>
      </p:sp>
      <p:pic>
        <p:nvPicPr>
          <p:cNvPr id="23" name="Picture 22" descr="16_singles_on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67" y="2697480"/>
            <a:ext cx="655466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НАХОДКА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Пакеты тоже выросли — каннибализации нет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3F1E6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1F7A3D"/>
                </a:solidFill>
                <a:latin typeface="Arial"/>
              </a:rPr>
              <a:t>Подтверждено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Заинтересованность пакетами тоже увеличилась, похоже, из-за более прозрачного сравнения: видя цену одного билета, люди чаще заглядывают сравнить с набором. Продажи пакетов при этом тоже растут, а не падают.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Боялись, что явная цена одного билета оттянет людей от пакетов. Получилось наоборот: пакеты смотрят чаще, и покупают их тоже больше, чем раньше.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35.5% → 38.8%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доля сессий, открывших карточку «Наборы билетов»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+31.7% к тренду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продажи пакетов, p = 0.031 (сырое: +27.7%)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46320"/>
            <a:ext cx="3611880" cy="7772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91032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657"/>
                </a:solidFill>
                <a:latin typeface="Arial"/>
              </a:rPr>
              <a:t>Метод: доля сессий с кликом по карточкам пакетов — дневная ITS-регрессия. Продажи пакетов — та же ITS-модель, что и для одиночных билетов.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4</a:t>
            </a:r>
          </a:p>
        </p:txBody>
      </p:sp>
      <p:pic>
        <p:nvPicPr>
          <p:cNvPr id="20" name="Picture 19" descr="17_packages_on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67" y="2697480"/>
            <a:ext cx="655466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НАХОДКА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Покупка стала более осознанной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BEFD2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9A6B00"/>
                </a:solidFill>
                <a:latin typeface="Arial"/>
              </a:rPr>
              <a:t>Механизм, не бизнес-эффект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Среди тех, кто уже начал оформление, заметно больше доходит до оплаты. Но в оформление теперь заходит меньше людей вообще — отсеиваются те, кто раньше нажимал кнопку просто из любопытства, не зная цены.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Раньше кнопку нажимали в том числе случайно — цена была неизвестна, терять нечего. Теперь цена видна сразу: случайных кликов меньше, зато почти все, кто начал оформление, доходят до оплаты.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+13.4 п.п.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доля дошедших до оплаты среди начавших оформление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−6.0 п.п.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доля заходящих в оформление (отсеиваются любопытные)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0060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87375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26.7%→26.1%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30352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сквозная конверсия «зашёл→оплатил» — не изменилась значимо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897880"/>
            <a:ext cx="3611880" cy="7772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96188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657"/>
                </a:solidFill>
                <a:latin typeface="Arial"/>
              </a:rPr>
              <a:t>Метод: ITS на доле + quasi-binomial GLM (overdispersion ×42) — оба метода согласны.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5</a:t>
            </a:r>
          </a:p>
        </p:txBody>
      </p:sp>
      <p:pic>
        <p:nvPicPr>
          <p:cNvPr id="23" name="Picture 22" descr="02_full_fun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2" y="2697480"/>
            <a:ext cx="608647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НАХОДКА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Суммарная выручка экрана выросла на 29–32%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3F1E6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1F7A3D"/>
                </a:solidFill>
                <a:latin typeface="Arial"/>
              </a:rPr>
              <a:t>Подтверждено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Одиночные билеты дешевле пакетов, поэтому важна выручка всего экрана целиком (одиночные + пакеты вместе), а не доля. Здесь сырое сравнение и модель с поправкой на тренд полностью согласны.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Рост одиночных — не история про то, что мы перетянули деньги с пакетов на дешёвый товар. Пакеты выросли сами по себе, одиночные добавились сверху — суммарная выручка выросла примерно на треть.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+29–32%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p = 0.001–0.005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810→1069 тыс.руб.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выручка экрана в день, сырое сравнение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0060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87375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+29.0%, 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30352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p = 0.0013, с поправкой на тренд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897880"/>
            <a:ext cx="3611880" cy="7772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596188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657"/>
                </a:solidFill>
                <a:latin typeface="Arial"/>
              </a:rPr>
              <a:t>Метод: ITS на сумме выручки обоих сегментов экрана. Локальный эффект экрана, не всей лотереи.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6</a:t>
            </a:r>
          </a:p>
        </p:txBody>
      </p:sp>
      <p:pic>
        <p:nvPicPr>
          <p:cNvPr id="23" name="Picture 22" descr="08_total_reven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67" y="2697480"/>
            <a:ext cx="655466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НАХОДКА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Средний чек снизился — и это ожидаемо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3F1E6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1F7A3D"/>
                </a:solidFill>
                <a:latin typeface="Arial"/>
              </a:rPr>
              <a:t>Подтверждено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Чек упал ровно потому, что в общей статистике выросла доля более дешёвых одиночных билетов. При этом общая выручка экрана всё равно выросла — рост в штуках перекрыл снижение чека.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Один билет дешевле набора — когда таких покупок стало больше в миксе, средняя сумма одной покупки немного снизилась. Это не потеря денег: общая выручка экрана всё равно выросла (см. находку 4), просто считается по-другому.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392₽ → 387₽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сырое сравнение, не значимо (p = 0.157)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−5.9%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с поправкой на тренд, p &lt; 0.001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0060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87375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+29–32%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30352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выручка экрана всё равно выросла (см. находку 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770000"/>
            <a:ext cx="3611880" cy="990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5810000"/>
            <a:ext cx="3291840" cy="9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E6657"/>
                </a:solidFill>
                <a:latin typeface="Arial"/>
              </a:rPr>
              <a:t>Метод: ITS-регрессия на среднем чеке (выручка/покупки, оба сегмента вместе). Раскрытие «раз в деньгах, раз с поправкой на тренд» — методологическая честность: при разных методах ответ на вопрос «значимо ли» разный.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7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7" y="2697480"/>
            <a:ext cx="655466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КОНТЕКСТ, НЕ ОТДЕЛЬНАЯ ГИПОТЕЗА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Вторая точка — баннер «Выгода» — показывает похожий рост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BEFD2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9A6B00"/>
                </a:solidFill>
                <a:latin typeface="Arial"/>
              </a:rPr>
              <a:t>На грани значимости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Баннер на вкладке «Выгода» получил то же изменение кнопки 14.09. Это не плацебо — вторая точка с тем же текстом.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Implied CR баннера тоже вырос после 14.09, даже сильнее кнопки в относительном выражении. Но p=0.056–0.066 — на грани значимости, отдельным подтверждённым выводом не публикуем, только как контекст, что оба места показывают похожее направление.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Направление похоже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на находку 2 (кнопка)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p = 0.056–0.066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на грани значимости, не публикуется как отдельное подтверждение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46320"/>
            <a:ext cx="3611880" cy="7772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91032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657"/>
                </a:solidFill>
                <a:latin typeface="Arial"/>
              </a:rPr>
              <a:t>Метод: та же дневная ITS-регрессия на implied CR, что и для кнопки (находка 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8</a:t>
            </a:r>
          </a:p>
        </p:txBody>
      </p:sp>
      <p:pic>
        <p:nvPicPr>
          <p:cNvPr id="20" name="Picture 19" descr="slid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67" y="2697480"/>
            <a:ext cx="655466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КОНТЕКСТ — СРАВНЕНИЕ ДВУХ ТОЧЕК ВХОДА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Кнопка даёт больше продаж и выше конверсию, чем баннер «Выгода»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BEFD2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9A6B00"/>
                </a:solidFill>
                <a:latin typeface="Arial"/>
              </a:rPr>
              <a:t>Описательный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Прямое сравнение масштаба двух точек входа с 14.09 по 05.10 (21 день). Не причинный тест — обе точки существовали и до, и после изменения кнопки, сравниваются просто по объёму и конверсии в этот период.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Кнопка на экране розыгрыша — основной, более заметный путь покупки: конвертирует лучше и даёт более чем вдвое больше билетов и выручки, чем баннер на вкладке «Выгода» в лояльности.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14.5% vs 11.4%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implied CR: кнопка выше баннера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22.5 vs 10.0 млн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выручка кнопки больше чем вдвое (112К vs 50К билетов)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46320"/>
            <a:ext cx="3611880" cy="7772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91032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657"/>
                </a:solidFill>
                <a:latin typeface="Arial"/>
              </a:rPr>
              <a:t>Метод: покупки/выручка — прямой подсчёт по dimension_7. Конверсия — implied CR = покупки / честный MAU экрана-хоста (COUNT DISTINCT primary_user_id). Для баннера — экран Benefits; у кнопки нет Screen View событий (Jackflow), её CR взят из ранее посчитанной ITS-находки — методология знаменателя разная, сравнение ориентировочное.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9</a:t>
            </a:r>
          </a:p>
        </p:txBody>
      </p:sp>
      <p:pic>
        <p:nvPicPr>
          <p:cNvPr id="20" name="Picture 19" descr="15_mainbanner_vs_but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7" y="2697480"/>
            <a:ext cx="655466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НАХОДКА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Приток новых клиентов — это перераспределение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BEFD2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9A6B00"/>
                </a:solidFill>
                <a:latin typeface="Arial"/>
              </a:rPr>
              <a:t>Подтверждено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E6657"/>
                </a:solidFill>
                <a:latin typeface="Arial"/>
              </a:rPr>
              <a:t>Другой вопрос: растёт ли число СОВСЕМ новых покупателей во всём продукте, или кнопка просто перехватывает тех, кто и так пришёл бы через другую точку входа?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Новых клиентов через саму кнопку стало заметно больше. Но общее число новых клиентов во ВСЁМ продукте не изменилось — кнопка не создаёт новый спрос, а перетягивает его с других точек входа.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+114%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новых через кнопку, p &lt; 0.001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+0.7%, н/з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новых во весь продукт, p = 0.954 — плоско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0060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87375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Сверено по client_id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30352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сумма по группам = тотал, 0 расхождений на 70 днях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897880"/>
            <a:ext cx="3611880" cy="7772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596188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657"/>
                </a:solidFill>
                <a:latin typeface="Arial"/>
              </a:rPr>
              <a:t>Метод: клиентский критерий «первая покупка за всю историю», дневная ITS на числе новых покупателей.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10</a:t>
            </a:r>
          </a:p>
        </p:txBody>
      </p:sp>
      <p:pic>
        <p:nvPicPr>
          <p:cNvPr id="23" name="Picture 22" descr="10_re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50" y="2697480"/>
            <a:ext cx="631190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ЧЕСТНАЯ ГРАНИЦА ВЫВОДОВ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A1A"/>
                </a:solidFill>
                <a:latin typeface="Arial"/>
              </a:rPr>
              <a:t>Главный открытый вопрос: вырос ли бизнес-результат в целом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Arial"/>
              </a:rPr>
              <a:t>Причинный эффект явной цены на итоговую конверсию и выручку ВСЕЙ лотереи статистически НЕ установлен — ни подтверждён, ни опровергнут. Это не «эффекта нет», а «недостаточно мощности отделить эффект кнопки от органического роста продукта».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7286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6E6657"/>
                </a:solidFill>
                <a:latin typeface="Arial"/>
              </a:rPr>
              <a:t>Primary ITT: выручка всей лотереи (все точки входа) на 1000 просмотров главного экрана — устойчиво к 4 независимым проверкам спецификации (день тиража, режим цикла, GLM, нелинейный тренд).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slid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292" y="2514600"/>
            <a:ext cx="7488936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КОНТЕКСТ — МАСШТАБ И ЕСТЕСТВЕННАЯ ВОЛАТИЛЬНОСТЬ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8503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A1A1A"/>
                </a:solidFill>
                <a:latin typeface="Arial"/>
              </a:rPr>
              <a:t>Выручка лотереи и так колеблется на ±30% между тиражами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BEFD2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9A6B00"/>
                </a:solidFill>
                <a:latin typeface="Arial"/>
              </a:rPr>
              <a:t>Описательный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Выручка всей лотереи (все точки входа) по тиражам 14-27 — без привязки к кнопке. Показывает масштаб, на фоне которого нужно смотреть на primary ITT (см. «Честная граница выводов»): естественный разброс между тиражами в разы больше, чем эффект, который мы пытаемся обнаружить на уровне всего продукта.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060704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3124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8686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Выручка тиража и раньше прыгала от 29 до 50 млн ₽ без всякой кнопки. Тираж 25, в который попало изменение (14.09), — 33 млн, ничем не выделяется на фоне соседей. Поэтому маленький эффект на уровне всего продукта статистически и не видно.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70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15–50 млн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размах выручки тиража без каких-либо изменений кнопки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490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822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>
                <a:solidFill>
                  <a:srgbClr val="EF3124"/>
                </a:solidFill>
                <a:latin typeface="Arial"/>
              </a:rPr>
              <a:t>Тираж 25 — 33 млн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51960"/>
            <a:ext cx="3291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E6657"/>
                </a:solidFill>
                <a:latin typeface="Arial"/>
              </a:rPr>
              <a:t>ровно в середине диапазона соседних тиражей, не выброс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46320"/>
            <a:ext cx="3611880" cy="7772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910328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6657"/>
                </a:solidFill>
                <a:latin typeface="Arial"/>
              </a:rPr>
              <a:t>Метод: описательная агрегация purchases/revenue по draw_number, вся лотерея. Не причинный тест. Тираж 27 ещё идёт на дату выгрузки (06.10) — неполный, для сравнений не используется.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12</a:t>
            </a:r>
          </a:p>
        </p:txBody>
      </p:sp>
      <p:pic>
        <p:nvPicPr>
          <p:cNvPr id="20" name="Picture 19" descr="14_longterm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67" y="2697480"/>
            <a:ext cx="655466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3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Рекомендации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54480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6420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EF3124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664208"/>
            <a:ext cx="9418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Arial"/>
              </a:rPr>
              <a:t>Кнопку не откатывать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66544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657"/>
                </a:solidFill>
                <a:latin typeface="Arial"/>
              </a:rPr>
              <a:t>Доказанного вреда нет: пакеты не пострадали, выручка экрана выросла, эффект не привязан к одной платформе.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70632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EF3124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880360"/>
            <a:ext cx="9418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Arial"/>
              </a:rPr>
              <a:t>Не заявлять рост выручки/конверсии всего продукта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82696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657"/>
                </a:solidFill>
                <a:latin typeface="Arial"/>
              </a:rPr>
              <a:t>Это не подтверждено — формулировка должна оставаться на уровне экрана кнопки, не всей лотереи.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86784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9651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EF3124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096512"/>
            <a:ext cx="9418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Arial"/>
              </a:rPr>
              <a:t>Продолжить наблюдение за отказами оплаты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98848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657"/>
                </a:solidFill>
                <a:latin typeface="Arial"/>
              </a:rPr>
              <a:t>Направление тревожное (+71% отн.), но пока не доказано статистически.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202936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1266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EF3124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312664"/>
            <a:ext cx="9418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A1A1A"/>
                </a:solidFill>
                <a:latin typeface="Arial"/>
              </a:rPr>
              <a:t>Для честного ответа о выручке всего продукта — нужен holdout-тест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7150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657"/>
                </a:solidFill>
                <a:latin typeface="Arial"/>
              </a:rPr>
              <a:t>Вернуть старый текст 5–10% пользователей на 2–3 тиража с заранее зафиксированной метрикой (покупки/выручка на клиента, ITT).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82296" cy="530352"/>
          </a:xfrm>
          <a:prstGeom prst="rect">
            <a:avLst/>
          </a:prstGeom>
          <a:solidFill>
            <a:srgbClr val="EF3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032"/>
            <a:ext cx="9601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6E6657"/>
                </a:solidFill>
                <a:latin typeface="Arial"/>
              </a:rPr>
              <a:t>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A1A"/>
                </a:solidFill>
                <a:latin typeface="Arial"/>
              </a:rPr>
              <a:t>Методология и воспроизводимость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E6657"/>
                </a:solidFill>
                <a:latin typeface="Arial"/>
              </a:rPr>
              <a:t>Каждая цифра получена одним и тем же воспроизводимым паттерном — ключевая спецификация ниже.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0704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EDE6D8"/>
                </a:solidFill>
                <a:latin typeface="Courier New"/>
              </a:rPr>
              <a:t>model = smf.ols(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EDE6D8"/>
                </a:solidFill>
                <a:latin typeface="Courier New"/>
              </a:rPr>
              <a:t>    "metric ~ post + t + draw_day + C(dow)",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EDE6D8"/>
                </a:solidFill>
                <a:latin typeface="Courier New"/>
              </a:rPr>
              <a:t>    data=df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EDE6D8"/>
                </a:solidFill>
                <a:latin typeface="Courier New"/>
              </a:rPr>
              <a:t>).fit(cov_type="cluster", cov_kwds={"groups": df["week"]})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>
                <a:solidFill>
                  <a:srgbClr val="1A1A1A"/>
                </a:solidFill>
                <a:latin typeface="Arial"/>
              </a:rPr>
              <a:t>●  Within-screen DiD: пакеты как честный контроль того же экрана — обязательна проверка параллельных трендов до интерпретации.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A1A1A"/>
                </a:solidFill>
                <a:latin typeface="Arial"/>
              </a:rPr>
              <a:t>●  Quasi-binomial GLM: кросс-проверка ITS на долях с поправкой на избыточную дисперсию (была ×42 для H1).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A1A1A"/>
                </a:solidFill>
                <a:latin typeface="Arial"/>
              </a:rPr>
              <a:t>●  Отвергнуто и почему: synthetic control (нет честного донор-пула), квадратичный тренд (переобучение, хуже на отложенной выборке), пулированные z-тесты по покупкам (псевдорепликация, завышают значимость в 10–100 раз).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7286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6E6657"/>
                </a:solidFill>
                <a:latin typeface="Arial"/>
              </a:rPr>
              <a:t>Полный код, SQL-скрипты и журнал ревизии — во внутренней документации проекта (HANDOFF-buybutton.md).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382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9A928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