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2" r:id="rId13"/>
    <p:sldId id="261" r:id="rId12"/>
    <p:sldId id="263" r:id="rId14"/>
    <p:sldId id="275" r:id="rId26"/>
    <p:sldId id="266" r:id="rId17"/>
    <p:sldId id="274" r:id="rId25"/>
    <p:sldId id="267" r:id="rId18"/>
    <p:sldId id="268" r:id="rId19"/>
    <p:sldId id="273" r:id="rId24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2" Type="http://schemas.openxmlformats.org/officeDocument/2006/relationships/slide" Target="slides/slide6.xml"/><Relationship Id="rId13" Type="http://schemas.openxmlformats.org/officeDocument/2006/relationships/slide" Target="slides/slide5.xml"/><Relationship Id="rId14" Type="http://schemas.openxmlformats.org/officeDocument/2006/relationships/slide" Target="slides/slide7.xml"/><Relationship Id="rId17" Type="http://schemas.openxmlformats.org/officeDocument/2006/relationships/slide" Target="slides/slide9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4" Type="http://schemas.openxmlformats.org/officeDocument/2006/relationships/slide" Target="slides/slide13.xml"/><Relationship Id="rId25" Type="http://schemas.openxmlformats.org/officeDocument/2006/relationships/slide" Target="slides/slide10.xml"/><Relationship Id="rId26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4.png"/><Relationship Id="rId4" Type="http://schemas.openxmlformats.org/officeDocument/2006/relationships/image" Target="../media/image23.png"/><Relationship Id="rId5" Type="http://schemas.openxmlformats.org/officeDocument/2006/relationships/image" Target="../media/image30.png"/><Relationship Id="rId6" Type="http://schemas.openxmlformats.org/officeDocument/2006/relationships/image" Target="../media/image4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8.png"/><Relationship Id="rId4" Type="http://schemas.openxmlformats.org/officeDocument/2006/relationships/image" Target="../media/image26.png"/><Relationship Id="rId5" Type="http://schemas.openxmlformats.org/officeDocument/2006/relationships/image" Target="../media/image34.png"/><Relationship Id="rId6" Type="http://schemas.openxmlformats.org/officeDocument/2006/relationships/image" Target="../media/image4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7.png"/><Relationship Id="rId4" Type="http://schemas.openxmlformats.org/officeDocument/2006/relationships/image" Target="../media/image25.png"/><Relationship Id="rId5" Type="http://schemas.openxmlformats.org/officeDocument/2006/relationships/image" Target="../media/image3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9.png"/><Relationship Id="rId4" Type="http://schemas.openxmlformats.org/officeDocument/2006/relationships/image" Target="../media/image27.png"/><Relationship Id="rId5" Type="http://schemas.openxmlformats.org/officeDocument/2006/relationships/image" Target="../media/image35.png"/><Relationship Id="rId6" Type="http://schemas.openxmlformats.org/officeDocument/2006/relationships/image" Target="../media/image4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4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20.png"/><Relationship Id="rId4" Type="http://schemas.openxmlformats.org/officeDocument/2006/relationships/image" Target="../media/image28.png"/><Relationship Id="rId5" Type="http://schemas.openxmlformats.org/officeDocument/2006/relationships/image" Target="../media/image3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4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21.png"/><Relationship Id="rId4" Type="http://schemas.openxmlformats.org/officeDocument/2006/relationships/image" Target="../media/image3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31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126480"/>
            <a:ext cx="12191695" cy="27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85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FFFFFF"/>
                </a:solidFill>
                <a:latin typeface="Styrene A Web"/>
              </a:rPr>
              <a:t xml:space="preserve">ALFA-MANIA </a:t>
            </a:r>
            <a:r>
              <a:rPr sz="1300" b="1" i="0">
                <a:solidFill>
                  <a:srgbClr val="FFFFFF"/>
                </a:solidFill>
                <a:latin typeface="Arial"/>
              </a:rPr>
              <a:t>·</a:t>
            </a:r>
            <a:r>
              <a:rPr sz="1300" b="1" i="0">
                <a:solidFill>
                  <a:srgbClr val="FFFFFF"/>
                </a:solidFill>
                <a:latin typeface="Styrene A Web"/>
              </a:rPr>
              <a:t xml:space="preserve"> ПРОДУКТОВАЯ АНАЛИТИКА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3327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4600" b="1" i="0">
                <a:solidFill>
                  <a:srgbClr val="FFFFFF"/>
                </a:solidFill>
                <a:latin typeface="Styrene A Web"/>
              </a:rPr>
              <a:t>Явная цена на кнопке</a:t>
            </a:r>
          </a:p>
          <a:p>
            <a:pPr algn="l">
              <a:lnSpc>
                <a:spcPct val="108000"/>
              </a:lnSpc>
            </a:pPr>
            <a:r>
              <a:rPr sz="4600" b="1" i="0">
                <a:solidFill>
                  <a:srgbClr val="FFFFFF"/>
                </a:solidFill>
                <a:latin typeface="Styrene A Web"/>
              </a:rPr>
              <a:t>«Купить билет»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86200"/>
            <a:ext cx="98755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 i="0">
                <a:solidFill>
                  <a:srgbClr val="FFFFFF"/>
                </a:solidFill>
                <a:latin typeface="Styrene A Web"/>
              </a:rPr>
              <a:t>Что доказано, а что нет: полный разбор гипотез, методологии и причинных эффектов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26364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 i="0">
                <a:solidFill>
                  <a:srgbClr val="FFFFFF"/>
                </a:solidFill>
                <a:latin typeface="Styrene A Web"/>
              </a:rPr>
              <a:t xml:space="preserve">06.10.2026 </a:t>
            </a:r>
            <a:r>
              <a:rPr sz="1250" b="0" i="0">
                <a:solidFill>
                  <a:srgbClr val="FFFFFF"/>
                </a:solidFill>
                <a:latin typeface="Arial"/>
              </a:rPr>
              <a:t>·</a:t>
            </a:r>
            <a:r>
              <a:rPr sz="1250" b="0" i="0">
                <a:solidFill>
                  <a:srgbClr val="FFFFFF"/>
                </a:solidFill>
                <a:latin typeface="Styrene A Web"/>
              </a:rPr>
              <a:t xml:space="preserve"> Окно данных 27.07–04.10.2026 </a:t>
            </a:r>
            <a:r>
              <a:rPr sz="1250" b="0" i="0">
                <a:solidFill>
                  <a:srgbClr val="FFFFFF"/>
                </a:solidFill>
                <a:latin typeface="Arial"/>
              </a:rPr>
              <a:t>·</a:t>
            </a:r>
            <a:r>
              <a:rPr sz="1250" b="0" i="0">
                <a:solidFill>
                  <a:srgbClr val="FFFFFF"/>
                </a:solidFill>
                <a:latin typeface="Styrene A Web"/>
              </a:rPr>
              <a:t xml:space="preserve"> Квазиэксперимент, без A</a:t>
            </a:r>
            <a:r>
              <a:rPr sz="1250" b="0" i="0">
                <a:solidFill>
                  <a:srgbClr val="FFFFFF"/>
                </a:solidFill>
                <a:latin typeface="Arial"/>
              </a:rPr>
              <a:t>/</a:t>
            </a:r>
            <a:r>
              <a:rPr sz="1250" b="0" i="0">
                <a:solidFill>
                  <a:srgbClr val="FFFFFF"/>
                </a:solidFill>
                <a:latin typeface="Styrene A Web"/>
              </a:rPr>
              <a:t>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0624"/>
            <a:ext cx="82296" cy="530352"/>
          </a:xfrm>
          <a:prstGeom prst="rect">
            <a:avLst/>
          </a:prstGeom>
          <a:solidFill>
            <a:srgbClr val="EF3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56032"/>
            <a:ext cx="9601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1" i="0">
                <a:solidFill>
                  <a:srgbClr val="6E6657"/>
                </a:solidFill>
                <a:latin typeface="Styrene A Web"/>
              </a:rPr>
              <a:t>КОНТЕКСТ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12064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500" b="1" i="0">
                <a:solidFill>
                  <a:srgbClr val="1A1A1A"/>
                </a:solidFill>
                <a:latin typeface="Styrene A Web"/>
              </a:rPr>
              <a:t>Что изменилось 14.09.2026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828800"/>
            <a:ext cx="4480560" cy="1051560"/>
          </a:xfrm>
          <a:prstGeom prst="roundRect">
            <a:avLst>
              <a:gd name="adj" fmla="val 15000"/>
            </a:avLst>
          </a:prstGeom>
          <a:solidFill>
            <a:srgbClr val="EDEDED"/>
          </a:solidFill>
          <a:ln>
            <a:noFill/>
          </a:ln>
          <a:effectLst>
            <a:outerShdw blurRad="76200" dist="254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48056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2100" b="1" i="0">
                <a:solidFill>
                  <a:srgbClr val="1A1A1A"/>
                </a:solidFill>
                <a:latin typeface="Styrene A Web"/>
              </a:rPr>
              <a:t>«Купить билет»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71800"/>
            <a:ext cx="4480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250" b="0" i="0">
                <a:solidFill>
                  <a:srgbClr val="6E6657"/>
                </a:solidFill>
                <a:latin typeface="Styrene A Web"/>
              </a:rPr>
              <a:t>До 14.09 — цена скрыта за выбором пакета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32120" y="2057400"/>
            <a:ext cx="914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4000" b="1" i="0">
                <a:solidFill>
                  <a:srgbClr val="EF3124"/>
                </a:solidFill>
                <a:latin typeface="Arial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0" y="1828800"/>
            <a:ext cx="4480560" cy="1051560"/>
          </a:xfrm>
          <a:prstGeom prst="roundRect">
            <a:avLst>
              <a:gd name="adj" fmla="val 15000"/>
            </a:avLst>
          </a:prstGeom>
          <a:solidFill>
            <a:srgbClr val="EF3124"/>
          </a:solidFill>
          <a:ln>
            <a:noFill/>
          </a:ln>
          <a:effectLst>
            <a:outerShdw blurRad="76200" dist="254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1828800"/>
            <a:ext cx="448056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2100" b="1" i="0">
                <a:solidFill>
                  <a:srgbClr val="FFFFFF"/>
                </a:solidFill>
                <a:latin typeface="Styrene A Web"/>
              </a:rPr>
              <a:t xml:space="preserve">«Купить билет за 200 </a:t>
            </a:r>
            <a:r>
              <a:rPr sz="2100" b="1" i="0">
                <a:solidFill>
                  <a:srgbClr val="FFFFFF"/>
                </a:solidFill>
                <a:latin typeface="Arial"/>
              </a:rPr>
              <a:t>₽</a:t>
            </a:r>
            <a:r>
              <a:rPr sz="2100" b="1" i="0">
                <a:solidFill>
                  <a:srgbClr val="FFFFFF"/>
                </a:solidFill>
                <a:latin typeface="Styrene A Web"/>
              </a:rPr>
              <a:t>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971800"/>
            <a:ext cx="4480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250" b="0" i="0">
                <a:solidFill>
                  <a:srgbClr val="6E6657"/>
                </a:solidFill>
                <a:latin typeface="Styrene A Web"/>
              </a:rPr>
              <a:t>С 14.09 — цена единичного билета явная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657600"/>
            <a:ext cx="101498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600" b="1" i="0">
                <a:solidFill>
                  <a:srgbClr val="1A1A1A"/>
                </a:solidFill>
                <a:latin typeface="Styrene A Web"/>
              </a:rPr>
              <a:t>Продуктовая гипотеза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114800"/>
            <a:ext cx="101498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A"/>
                </a:solidFill>
                <a:latin typeface="Styrene A Web"/>
              </a:rPr>
              <a:t>Скрытая цена повышала воспринимаемый порог входа и отпугивала часть клиентов от первой покупки. То же изменение затронуло вторую точку входа — баннер на вкладке «Выгода».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5257800"/>
            <a:ext cx="1014984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>
            <a:outerShdw blurRad="76200" dist="254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5394960"/>
            <a:ext cx="96012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1A1A1A"/>
                </a:solidFill>
                <a:latin typeface="Styrene A Web"/>
              </a:rPr>
              <a:t>Это квазиэксперимент, не A</a:t>
            </a:r>
            <a:r>
              <a:rPr sz="1300" b="0" i="0">
                <a:solidFill>
                  <a:srgbClr val="1A1A1A"/>
                </a:solidFill>
                <a:latin typeface="Arial"/>
              </a:rPr>
              <a:t>/</a:t>
            </a:r>
            <a:r>
              <a:rPr sz="1300" b="0" i="0">
                <a:solidFill>
                  <a:srgbClr val="1A1A1A"/>
                </a:solidFill>
                <a:latin typeface="Styrene A Web"/>
              </a:rPr>
              <a:t>B. Контрольной группы нет — 100</a:t>
            </a:r>
            <a:r>
              <a:rPr sz="1300" b="0" i="0">
                <a:solidFill>
                  <a:srgbClr val="1A1A1A"/>
                </a:solidFill>
                <a:latin typeface="Arial"/>
              </a:rPr>
              <a:t>%</a:t>
            </a:r>
            <a:r>
              <a:rPr sz="1300" b="0" i="0">
                <a:solidFill>
                  <a:srgbClr val="1A1A1A"/>
                </a:solidFill>
                <a:latin typeface="Styrene A Web"/>
              </a:rPr>
              <a:t xml:space="preserve"> трафика увидело новую кнопку одновременно. Все выводы ниже компенсируют отсутствие рандомизации причинными методами.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68735" y="6382512"/>
            <a:ext cx="457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1000" b="0" i="0">
                <a:solidFill>
                  <a:srgbClr val="9A9282"/>
                </a:solidFill>
                <a:latin typeface="Styrene A Web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0624"/>
            <a:ext cx="82296" cy="530352"/>
          </a:xfrm>
          <a:prstGeom prst="rect">
            <a:avLst/>
          </a:prstGeom>
          <a:solidFill>
            <a:srgbClr val="EF3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56032"/>
            <a:ext cx="9601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1" i="0">
                <a:solidFill>
                  <a:srgbClr val="6E6657"/>
                </a:solidFill>
                <a:latin typeface="Styrene A Web"/>
              </a:rPr>
              <a:t>МЕТОДОЛОГИЯ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12064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500" b="1" i="0">
                <a:solidFill>
                  <a:srgbClr val="1A1A1A"/>
                </a:solidFill>
                <a:latin typeface="Styrene A Web"/>
              </a:rPr>
              <a:t>Как проверяли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716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0" i="0">
                <a:solidFill>
                  <a:srgbClr val="6E6657"/>
                </a:solidFill>
                <a:latin typeface="Styrene A Web"/>
              </a:rPr>
              <a:t>Vertica event</a:t>
            </a:r>
            <a:r>
              <a:rPr sz="1400" b="0" i="0">
                <a:solidFill>
                  <a:srgbClr val="6E6657"/>
                </a:solidFill>
                <a:latin typeface="Arial"/>
              </a:rPr>
              <a:t>_</a:t>
            </a:r>
            <a:r>
              <a:rPr sz="1400" b="0" i="0">
                <a:solidFill>
                  <a:srgbClr val="6E6657"/>
                </a:solidFill>
                <a:latin typeface="Styrene A Web"/>
              </a:rPr>
              <a:t xml:space="preserve">log, окно 27.07–04.10.2026 </a:t>
            </a:r>
            <a:r>
              <a:rPr sz="1400" b="0" i="0">
                <a:solidFill>
                  <a:srgbClr val="6E6657"/>
                </a:solidFill>
                <a:latin typeface="Arial"/>
              </a:rPr>
              <a:t>(</a:t>
            </a:r>
            <a:r>
              <a:rPr sz="1400" b="0" i="0">
                <a:solidFill>
                  <a:srgbClr val="6E6657"/>
                </a:solidFill>
                <a:latin typeface="Styrene A Web"/>
              </a:rPr>
              <a:t>49 дней до изменения, 21 после</a:t>
            </a:r>
            <a:r>
              <a:rPr sz="1400" b="0" i="0">
                <a:solidFill>
                  <a:srgbClr val="6E6657"/>
                </a:solidFill>
                <a:latin typeface="Arial"/>
              </a:rPr>
              <a:t>)</a:t>
            </a:r>
            <a:r>
              <a:rPr sz="1400" b="0" i="0">
                <a:solidFill>
                  <a:srgbClr val="6E6657"/>
                </a:solidFill>
                <a:latin typeface="Styrene A Web"/>
              </a:rPr>
              <a:t>. Тиражи 1–13 исключены.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11680"/>
            <a:ext cx="2514600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76200" dist="254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148840"/>
            <a:ext cx="2514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2500" b="1" i="0">
                <a:solidFill>
                  <a:srgbClr val="EF3124"/>
                </a:solidFill>
                <a:latin typeface="Styrene A Web"/>
              </a:rPr>
              <a:t>1 042 737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97480"/>
            <a:ext cx="2240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150" b="0" i="0">
                <a:solidFill>
                  <a:srgbClr val="6E6657"/>
                </a:solidFill>
                <a:latin typeface="Styrene A Web"/>
              </a:rPr>
              <a:t>просмотров главного экрана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47288" y="2011680"/>
            <a:ext cx="2514600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76200" dist="254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47288" y="2148840"/>
            <a:ext cx="2514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2500" b="1" i="0">
                <a:solidFill>
                  <a:srgbClr val="EF3124"/>
                </a:solidFill>
                <a:latin typeface="Styrene A Web"/>
              </a:rPr>
              <a:t>276 370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84448" y="2697480"/>
            <a:ext cx="2240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150" b="0" i="0">
                <a:solidFill>
                  <a:srgbClr val="6E6657"/>
                </a:solidFill>
                <a:latin typeface="Styrene A Web"/>
              </a:rPr>
              <a:t>завершённых покупок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17336" y="2011680"/>
            <a:ext cx="2514600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76200" dist="254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17336" y="2148840"/>
            <a:ext cx="2514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2500" b="1" i="0">
                <a:solidFill>
                  <a:srgbClr val="EF3124"/>
                </a:solidFill>
                <a:latin typeface="Styrene A Web"/>
              </a:rPr>
              <a:t>159 027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54496" y="2697480"/>
            <a:ext cx="2240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150" b="0" i="0">
                <a:solidFill>
                  <a:srgbClr val="6E6657"/>
                </a:solidFill>
                <a:latin typeface="Styrene A Web"/>
              </a:rPr>
              <a:t>покупок на экране кнопки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87384" y="2011680"/>
            <a:ext cx="2514600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76200" dist="254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87384" y="2148840"/>
            <a:ext cx="2514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2500" b="1" i="0">
                <a:solidFill>
                  <a:srgbClr val="EF3124"/>
                </a:solidFill>
                <a:latin typeface="Styrene A Web"/>
              </a:rPr>
              <a:t>70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24544" y="2697480"/>
            <a:ext cx="2240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150" b="0" i="0">
                <a:solidFill>
                  <a:srgbClr val="6E6657"/>
                </a:solidFill>
                <a:latin typeface="Styrene A Web"/>
              </a:rPr>
              <a:t>дней в окне анализа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3611880"/>
            <a:ext cx="64008" cy="566928"/>
          </a:xfrm>
          <a:prstGeom prst="rect">
            <a:avLst/>
          </a:prstGeom>
          <a:solidFill>
            <a:srgbClr val="EF3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3593592"/>
            <a:ext cx="32004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1A1A1A"/>
                </a:solidFill>
                <a:latin typeface="Styrene A Web"/>
              </a:rPr>
              <a:t>Единица наблюдения — день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43400" y="3593592"/>
            <a:ext cx="69494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6E6657"/>
                </a:solidFill>
                <a:latin typeface="Styrene A Web"/>
              </a:rPr>
              <a:t>не отдельная покупка: агрегированные тесты по сырым счётчикам систематически завышают значимость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4361688"/>
            <a:ext cx="64008" cy="566928"/>
          </a:xfrm>
          <a:prstGeom prst="rect">
            <a:avLst/>
          </a:prstGeom>
          <a:solidFill>
            <a:srgbClr val="EF3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4343400"/>
            <a:ext cx="32004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1A1A1A"/>
                </a:solidFill>
                <a:latin typeface="Styrene A Web"/>
              </a:rPr>
              <a:t>ITS-регрессия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3400" y="4343400"/>
            <a:ext cx="69494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6E6657"/>
                </a:solidFill>
                <a:latin typeface="Styrene A Web"/>
              </a:rPr>
              <a:t xml:space="preserve">метрика </a:t>
            </a:r>
            <a:r>
              <a:rPr sz="1250" b="0" i="0">
                <a:solidFill>
                  <a:srgbClr val="6E6657"/>
                </a:solidFill>
                <a:latin typeface="Arial"/>
              </a:rPr>
              <a:t>~</a:t>
            </a:r>
            <a:r>
              <a:rPr sz="1250" b="0" i="0">
                <a:solidFill>
                  <a:srgbClr val="6E6657"/>
                </a:solidFill>
                <a:latin typeface="Styrene A Web"/>
              </a:rPr>
              <a:t xml:space="preserve"> post </a:t>
            </a:r>
            <a:r>
              <a:rPr sz="1250" b="0" i="0">
                <a:solidFill>
                  <a:srgbClr val="6E6657"/>
                </a:solidFill>
                <a:latin typeface="Arial"/>
              </a:rPr>
              <a:t>+</a:t>
            </a:r>
            <a:r>
              <a:rPr sz="1250" b="0" i="0">
                <a:solidFill>
                  <a:srgbClr val="6E6657"/>
                </a:solidFill>
                <a:latin typeface="Styrene A Web"/>
              </a:rPr>
              <a:t xml:space="preserve"> линейный тренд </a:t>
            </a:r>
            <a:r>
              <a:rPr sz="1250" b="0" i="0">
                <a:solidFill>
                  <a:srgbClr val="6E6657"/>
                </a:solidFill>
                <a:latin typeface="Arial"/>
              </a:rPr>
              <a:t>+</a:t>
            </a:r>
            <a:r>
              <a:rPr sz="1250" b="0" i="0">
                <a:solidFill>
                  <a:srgbClr val="6E6657"/>
                </a:solidFill>
                <a:latin typeface="Styrene A Web"/>
              </a:rPr>
              <a:t xml:space="preserve"> день недели </a:t>
            </a:r>
            <a:r>
              <a:rPr sz="1250" b="0" i="0">
                <a:solidFill>
                  <a:srgbClr val="6E6657"/>
                </a:solidFill>
                <a:latin typeface="Arial"/>
              </a:rPr>
              <a:t>+</a:t>
            </a:r>
            <a:r>
              <a:rPr sz="1250" b="0" i="0">
                <a:solidFill>
                  <a:srgbClr val="6E6657"/>
                </a:solidFill>
                <a:latin typeface="Styrene A Web"/>
              </a:rPr>
              <a:t xml:space="preserve"> день тиража, SE кластеризованы по неделям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5111496"/>
            <a:ext cx="64008" cy="566928"/>
          </a:xfrm>
          <a:prstGeom prst="rect">
            <a:avLst/>
          </a:prstGeom>
          <a:solidFill>
            <a:srgbClr val="EF3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093208"/>
            <a:ext cx="32004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1A1A1A"/>
                </a:solidFill>
                <a:latin typeface="Styrene A Web"/>
              </a:rPr>
              <a:t>Within-screen дизайн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43400" y="5093208"/>
            <a:ext cx="69494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6E6657"/>
                </a:solidFill>
                <a:latin typeface="Styrene A Web"/>
              </a:rPr>
              <a:t>пакеты как честный внутренний контроль для одиночных билетов — вместо ненадёжного внешнего донор-пула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5861304"/>
            <a:ext cx="64008" cy="566928"/>
          </a:xfrm>
          <a:prstGeom prst="rect">
            <a:avLst/>
          </a:prstGeom>
          <a:solidFill>
            <a:srgbClr val="EF3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843016"/>
            <a:ext cx="32004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1A1A1A"/>
                </a:solidFill>
                <a:latin typeface="Styrene A Web"/>
              </a:rPr>
              <a:t>Двойная проверка устойчивости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43400" y="5843016"/>
            <a:ext cx="69494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6E6657"/>
                </a:solidFill>
                <a:latin typeface="Styrene A Web"/>
              </a:rPr>
              <a:t xml:space="preserve">каждый вывод — минимум две независимые модели </a:t>
            </a:r>
            <a:r>
              <a:rPr sz="1250" b="0" i="0">
                <a:solidFill>
                  <a:srgbClr val="6E6657"/>
                </a:solidFill>
                <a:latin typeface="Arial"/>
              </a:rPr>
              <a:t>(</a:t>
            </a:r>
            <a:r>
              <a:rPr sz="1250" b="0" i="0">
                <a:solidFill>
                  <a:srgbClr val="6E6657"/>
                </a:solidFill>
                <a:latin typeface="Styrene A Web"/>
              </a:rPr>
              <a:t xml:space="preserve">другая спецификация </a:t>
            </a:r>
            <a:r>
              <a:rPr sz="1250" b="0" i="0">
                <a:solidFill>
                  <a:srgbClr val="6E6657"/>
                </a:solidFill>
                <a:latin typeface="Arial"/>
              </a:rPr>
              <a:t>/</a:t>
            </a:r>
            <a:r>
              <a:rPr sz="1250" b="0" i="0">
                <a:solidFill>
                  <a:srgbClr val="6E6657"/>
                </a:solidFill>
                <a:latin typeface="Styrene A Web"/>
              </a:rPr>
              <a:t xml:space="preserve"> другой метод</a:t>
            </a:r>
            <a:r>
              <a:rPr sz="1250" b="0" i="0">
                <a:solidFill>
                  <a:srgbClr val="6E6657"/>
                </a:solidFill>
                <a:latin typeface="Arial"/>
              </a:rPr>
              <a:t>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68735" y="6382512"/>
            <a:ext cx="457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1000" b="0" i="0">
                <a:solidFill>
                  <a:srgbClr val="9A9282"/>
                </a:solidFill>
                <a:latin typeface="Styrene A Web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0624"/>
            <a:ext cx="82296" cy="530352"/>
          </a:xfrm>
          <a:prstGeom prst="rect">
            <a:avLst/>
          </a:prstGeom>
          <a:solidFill>
            <a:srgbClr val="EF3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56032"/>
            <a:ext cx="8686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1" i="0">
                <a:solidFill>
                  <a:srgbClr val="6E6657"/>
                </a:solidFill>
                <a:latin typeface="Styrene A Web"/>
              </a:rPr>
              <a:t>НАХОДКА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12064"/>
            <a:ext cx="85039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1A1A1A"/>
                </a:solidFill>
                <a:latin typeface="Styrene A Web"/>
              </a:rPr>
              <a:t>Покупки одиночных билетов выросли сверх тренда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92640" y="457200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E3F1E6"/>
          </a:solidFill>
          <a:ln>
            <a:noFill/>
          </a:ln>
          <a:effectLst>
            <a:outerShdw blurRad="76200" dist="254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1150" b="1">
                <a:solidFill>
                  <a:srgbClr val="1F7A3D"/>
                </a:solidFill>
                <a:latin typeface="Styrene A Web"/>
              </a:rPr>
              <a:t>Подтверждено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280160"/>
            <a:ext cx="1051560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 i="0">
                <a:solidFill>
                  <a:srgbClr val="6E6657"/>
                </a:solidFill>
                <a:latin typeface="Styrene A Web"/>
              </a:rPr>
              <a:t>Ежедневное число покупок одиночных билетов выросло на 47.4</a:t>
            </a:r>
            <a:r>
              <a:rPr sz="1250" b="0" i="0">
                <a:solidFill>
                  <a:srgbClr val="6E6657"/>
                </a:solidFill>
                <a:latin typeface="Arial"/>
              </a:rPr>
              <a:t>%</a:t>
            </a:r>
            <a:r>
              <a:rPr sz="1250" b="0" i="0">
                <a:solidFill>
                  <a:srgbClr val="6E6657"/>
                </a:solidFill>
                <a:latin typeface="Styrene A Web"/>
              </a:rPr>
              <a:t xml:space="preserve"> относительно уже имеющегося линейного тренда — это рост сверх того, что происходило бы и без изменения кнопки.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901952"/>
            <a:ext cx="10607040" cy="6217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76200" dist="254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20240"/>
            <a:ext cx="15544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EF3124"/>
                </a:solidFill>
                <a:latin typeface="Styrene A Web"/>
              </a:rPr>
              <a:t>Простыми словами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4600" y="1920240"/>
            <a:ext cx="86868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1A1A1A"/>
                </a:solidFill>
                <a:latin typeface="Styrene A Web"/>
              </a:rPr>
              <a:t>Люди и раньше покупали одиночные билеты, и их число росло само по себе. После 14.09 рост стал заметно быстрее, чем предсказывал этот уже идущий тренд.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35240" y="2697480"/>
            <a:ext cx="36118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76200" dist="254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18120" y="2770632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850" b="1" i="0">
                <a:solidFill>
                  <a:srgbClr val="EF3124"/>
                </a:solidFill>
                <a:latin typeface="Arial"/>
              </a:rPr>
              <a:t>+</a:t>
            </a:r>
            <a:r>
              <a:rPr sz="1850" b="1" i="0">
                <a:solidFill>
                  <a:srgbClr val="EF3124"/>
                </a:solidFill>
                <a:latin typeface="Styrene A Web"/>
              </a:rPr>
              <a:t>47.4</a:t>
            </a:r>
            <a:r>
              <a:rPr sz="1850" b="1" i="0">
                <a:solidFill>
                  <a:srgbClr val="EF3124"/>
                </a:solidFill>
                <a:latin typeface="Arial"/>
              </a:rPr>
              <a:t>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3200400"/>
            <a:ext cx="32918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6E6657"/>
                </a:solidFill>
                <a:latin typeface="Styrene A Web"/>
              </a:rPr>
              <a:t xml:space="preserve">к тренду, p </a:t>
            </a:r>
            <a:r>
              <a:rPr sz="1000" b="0" i="0">
                <a:solidFill>
                  <a:srgbClr val="6E6657"/>
                </a:solidFill>
                <a:latin typeface="Arial"/>
              </a:rPr>
              <a:t>=</a:t>
            </a:r>
            <a:r>
              <a:rPr sz="1000" b="0" i="0">
                <a:solidFill>
                  <a:srgbClr val="6E6657"/>
                </a:solidFill>
                <a:latin typeface="Styrene A Web"/>
              </a:rPr>
              <a:t xml:space="preserve"> 0.023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35240" y="3749040"/>
            <a:ext cx="36118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76200" dist="254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8120" y="3822192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850" b="1" i="0">
                <a:solidFill>
                  <a:srgbClr val="EF3124"/>
                </a:solidFill>
                <a:latin typeface="Arial"/>
              </a:rPr>
              <a:t>+</a:t>
            </a:r>
            <a:r>
              <a:rPr sz="1850" b="1" i="0">
                <a:solidFill>
                  <a:srgbClr val="EF3124"/>
                </a:solidFill>
                <a:latin typeface="Styrene A Web"/>
              </a:rPr>
              <a:t>35.1</a:t>
            </a:r>
            <a:r>
              <a:rPr sz="1850" b="1" i="0">
                <a:solidFill>
                  <a:srgbClr val="EF3124"/>
                </a:solidFill>
                <a:latin typeface="Arial"/>
              </a:rPr>
              <a:t>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18120" y="4251960"/>
            <a:ext cx="32918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6E6657"/>
                </a:solidFill>
                <a:latin typeface="Styrene A Web"/>
              </a:rPr>
              <a:t xml:space="preserve">сырой рост покупок </a:t>
            </a:r>
            <a:r>
              <a:rPr sz="1000" b="0" i="0">
                <a:solidFill>
                  <a:srgbClr val="6E6657"/>
                </a:solidFill>
                <a:latin typeface="Arial"/>
              </a:rPr>
              <a:t>(</a:t>
            </a:r>
            <a:r>
              <a:rPr sz="1000" b="0" i="0">
                <a:solidFill>
                  <a:srgbClr val="6E6657"/>
                </a:solidFill>
                <a:latin typeface="Styrene A Web"/>
              </a:rPr>
              <a:t>без поправки на тренд</a:t>
            </a:r>
            <a:r>
              <a:rPr sz="1000" b="0" i="0">
                <a:solidFill>
                  <a:srgbClr val="6E6657"/>
                </a:solidFill>
                <a:latin typeface="Arial"/>
              </a:rPr>
              <a:t>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35240" y="4800600"/>
            <a:ext cx="36118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76200" dist="254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18120" y="4873752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850" b="1" i="0">
                <a:solidFill>
                  <a:srgbClr val="EF3124"/>
                </a:solidFill>
                <a:latin typeface="Arial"/>
              </a:rPr>
              <a:t>+</a:t>
            </a:r>
            <a:r>
              <a:rPr sz="1850" b="1" i="0">
                <a:solidFill>
                  <a:srgbClr val="EF3124"/>
                </a:solidFill>
                <a:latin typeface="Styrene A Web"/>
              </a:rPr>
              <a:t>2.2</a:t>
            </a:r>
            <a:r>
              <a:rPr sz="1850" b="1" i="0">
                <a:solidFill>
                  <a:srgbClr val="EF3124"/>
                </a:solidFill>
                <a:latin typeface="Arial"/>
              </a:rPr>
              <a:t>%</a:t>
            </a:r>
            <a:r>
              <a:rPr sz="1850" b="1" i="0">
                <a:solidFill>
                  <a:srgbClr val="EF3124"/>
                </a:solidFill>
                <a:latin typeface="Styrene A Web"/>
              </a:rPr>
              <a:t>, н</a:t>
            </a:r>
            <a:r>
              <a:rPr sz="1850" b="1" i="0">
                <a:solidFill>
                  <a:srgbClr val="EF3124"/>
                </a:solidFill>
                <a:latin typeface="Arial"/>
              </a:rPr>
              <a:t>/</a:t>
            </a:r>
            <a:r>
              <a:rPr sz="1850" b="1" i="0">
                <a:solidFill>
                  <a:srgbClr val="EF3124"/>
                </a:solidFill>
                <a:latin typeface="Styrene A Web"/>
              </a:rPr>
              <a:t>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18120" y="5303520"/>
            <a:ext cx="32918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6E6657"/>
                </a:solidFill>
                <a:latin typeface="Styrene A Web"/>
              </a:rPr>
              <a:t>по выручке — рост в штуках не даёт такого же роста в деньгах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35240" y="5897880"/>
            <a:ext cx="3611880" cy="777240"/>
          </a:xfrm>
          <a:prstGeom prst="roundRect">
            <a:avLst>
              <a:gd name="adj" fmla="val 10000"/>
            </a:avLst>
          </a:prstGeom>
          <a:solidFill>
            <a:srgbClr val="EDEDED"/>
          </a:solidFill>
          <a:ln>
            <a:noFill/>
          </a:ln>
          <a:effectLst>
            <a:outerShdw blurRad="76200" dist="254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8120" y="5961888"/>
            <a:ext cx="32918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6E6657"/>
                </a:solidFill>
                <a:latin typeface="Styrene A Web"/>
              </a:rPr>
              <a:t>Метод: DiD в лог-шкале, log</a:t>
            </a:r>
            <a:r>
              <a:rPr sz="950" b="0" i="0">
                <a:solidFill>
                  <a:srgbClr val="6E6657"/>
                </a:solidFill>
                <a:latin typeface="Arial"/>
              </a:rPr>
              <a:t>(</a:t>
            </a:r>
            <a:r>
              <a:rPr sz="950" b="0" i="0">
                <a:solidFill>
                  <a:srgbClr val="6E6657"/>
                </a:solidFill>
                <a:latin typeface="Styrene A Web"/>
              </a:rPr>
              <a:t>покупки</a:t>
            </a:r>
            <a:r>
              <a:rPr sz="950" b="0" i="0">
                <a:solidFill>
                  <a:srgbClr val="6E6657"/>
                </a:solidFill>
                <a:latin typeface="Arial"/>
              </a:rPr>
              <a:t>)</a:t>
            </a:r>
            <a:r>
              <a:rPr sz="950" b="0" i="0">
                <a:solidFill>
                  <a:srgbClr val="6E6657"/>
                </a:solidFill>
                <a:latin typeface="Styrene A Web"/>
              </a:rPr>
              <a:t xml:space="preserve"> </a:t>
            </a:r>
            <a:r>
              <a:rPr sz="950" b="0" i="0">
                <a:solidFill>
                  <a:srgbClr val="6E6657"/>
                </a:solidFill>
                <a:latin typeface="Arial"/>
              </a:rPr>
              <a:t>~</a:t>
            </a:r>
            <a:r>
              <a:rPr sz="950" b="0" i="0">
                <a:solidFill>
                  <a:srgbClr val="6E6657"/>
                </a:solidFill>
                <a:latin typeface="Styrene A Web"/>
              </a:rPr>
              <a:t xml:space="preserve"> группа</a:t>
            </a:r>
            <a:r>
              <a:rPr sz="950" b="0" i="0">
                <a:solidFill>
                  <a:srgbClr val="6E6657"/>
                </a:solidFill>
                <a:latin typeface="Arial"/>
              </a:rPr>
              <a:t>×</a:t>
            </a:r>
            <a:r>
              <a:rPr sz="950" b="0" i="0">
                <a:solidFill>
                  <a:srgbClr val="6E6657"/>
                </a:solidFill>
                <a:latin typeface="Styrene A Web"/>
              </a:rPr>
              <a:t xml:space="preserve">post </a:t>
            </a:r>
            <a:r>
              <a:rPr sz="950" b="0" i="0">
                <a:solidFill>
                  <a:srgbClr val="6E6657"/>
                </a:solidFill>
                <a:latin typeface="Arial"/>
              </a:rPr>
              <a:t>+</a:t>
            </a:r>
            <a:r>
              <a:rPr sz="950" b="0" i="0">
                <a:solidFill>
                  <a:srgbClr val="6E6657"/>
                </a:solidFill>
                <a:latin typeface="Styrene A Web"/>
              </a:rPr>
              <a:t xml:space="preserve"> тренд </a:t>
            </a:r>
            <a:r>
              <a:rPr sz="950" b="0" i="0">
                <a:solidFill>
                  <a:srgbClr val="6E6657"/>
                </a:solidFill>
                <a:latin typeface="Arial"/>
              </a:rPr>
              <a:t>+</a:t>
            </a:r>
            <a:r>
              <a:rPr sz="950" b="0" i="0">
                <a:solidFill>
                  <a:srgbClr val="6E6657"/>
                </a:solidFill>
                <a:latin typeface="Styrene A Web"/>
              </a:rPr>
              <a:t xml:space="preserve"> день недели </a:t>
            </a:r>
            <a:r>
              <a:rPr sz="950" b="0" i="0">
                <a:solidFill>
                  <a:srgbClr val="6E6657"/>
                </a:solidFill>
                <a:latin typeface="Arial"/>
              </a:rPr>
              <a:t>+</a:t>
            </a:r>
            <a:r>
              <a:rPr sz="950" b="0" i="0">
                <a:solidFill>
                  <a:srgbClr val="6E6657"/>
                </a:solidFill>
                <a:latin typeface="Styrene A Web"/>
              </a:rPr>
              <a:t xml:space="preserve"> день тиража.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68735" y="6382512"/>
            <a:ext cx="457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1000" b="0" i="0">
                <a:solidFill>
                  <a:srgbClr val="9A9282"/>
                </a:solidFill>
                <a:latin typeface="Styrene A Web"/>
              </a:rPr>
              <a:t>3</a:t>
            </a:r>
          </a:p>
        </p:txBody>
      </p:sp>
      <p:pic>
        <p:nvPicPr>
          <p:cNvPr id="23" name="Picture 22" descr="16_singles_onl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7467" y="2697480"/>
            <a:ext cx="6554665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0624"/>
            <a:ext cx="82296" cy="530352"/>
          </a:xfrm>
          <a:prstGeom prst="rect">
            <a:avLst/>
          </a:prstGeom>
          <a:solidFill>
            <a:srgbClr val="EF3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56032"/>
            <a:ext cx="8686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1" i="0">
                <a:solidFill>
                  <a:srgbClr val="6E6657"/>
                </a:solidFill>
                <a:latin typeface="Styrene A Web"/>
              </a:rPr>
              <a:t>НАХОДКА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12064"/>
            <a:ext cx="85039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1A1A1A"/>
                </a:solidFill>
                <a:latin typeface="Styrene A Web"/>
              </a:rPr>
              <a:t>Пакеты тоже выросли — каннибализации нет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92640" y="457200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E3F1E6"/>
          </a:solidFill>
          <a:ln>
            <a:noFill/>
          </a:ln>
          <a:effectLst>
            <a:outerShdw blurRad="76200" dist="254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1150" b="1">
                <a:solidFill>
                  <a:srgbClr val="1F7A3D"/>
                </a:solidFill>
                <a:latin typeface="Styrene A Web"/>
              </a:rPr>
              <a:t>Подтверждено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280160"/>
            <a:ext cx="1051560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 i="0">
                <a:solidFill>
                  <a:srgbClr val="6E6657"/>
                </a:solidFill>
                <a:latin typeface="Styrene A Web"/>
              </a:rPr>
              <a:t>Заинтересованность пакетами тоже увеличилась, похоже, из-за более прозрачного сравнения: видя цену одного билета, люди чаще заглядывают сравнить с набором. Продажи пакетов при этом тоже растут, а не падают.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901952"/>
            <a:ext cx="10607040" cy="6217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76200" dist="254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20240"/>
            <a:ext cx="15544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EF3124"/>
                </a:solidFill>
                <a:latin typeface="Styrene A Web"/>
              </a:rPr>
              <a:t>Простыми словами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4600" y="1920240"/>
            <a:ext cx="86868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1A1A1A"/>
                </a:solidFill>
                <a:latin typeface="Styrene A Web"/>
              </a:rPr>
              <a:t>Боялись, что явная цена одного билета оттянет людей от пакетов. Получилось наоборот: пакеты смотрят чаще, и покупают их тоже больше, чем раньше.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35240" y="2697480"/>
            <a:ext cx="36118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76200" dist="254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18120" y="2770632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850" b="1" i="0">
                <a:solidFill>
                  <a:srgbClr val="EF3124"/>
                </a:solidFill>
                <a:latin typeface="Styrene A Web"/>
              </a:rPr>
              <a:t>35.5</a:t>
            </a:r>
            <a:r>
              <a:rPr sz="1850" b="1" i="0">
                <a:solidFill>
                  <a:srgbClr val="EF3124"/>
                </a:solidFill>
                <a:latin typeface="Arial"/>
              </a:rPr>
              <a:t>%</a:t>
            </a:r>
            <a:r>
              <a:rPr sz="1850" b="1" i="0">
                <a:solidFill>
                  <a:srgbClr val="EF3124"/>
                </a:solidFill>
                <a:latin typeface="Styrene A Web"/>
              </a:rPr>
              <a:t xml:space="preserve"> </a:t>
            </a:r>
            <a:r>
              <a:rPr sz="1850" b="1" i="0">
                <a:solidFill>
                  <a:srgbClr val="EF3124"/>
                </a:solidFill>
                <a:latin typeface="Arial"/>
              </a:rPr>
              <a:t>→</a:t>
            </a:r>
            <a:r>
              <a:rPr sz="1850" b="1" i="0">
                <a:solidFill>
                  <a:srgbClr val="EF3124"/>
                </a:solidFill>
                <a:latin typeface="Styrene A Web"/>
              </a:rPr>
              <a:t xml:space="preserve"> 38.8</a:t>
            </a:r>
            <a:r>
              <a:rPr sz="1850" b="1" i="0">
                <a:solidFill>
                  <a:srgbClr val="EF3124"/>
                </a:solidFill>
                <a:latin typeface="Arial"/>
              </a:rPr>
              <a:t>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3200400"/>
            <a:ext cx="32918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6E6657"/>
                </a:solidFill>
                <a:latin typeface="Styrene A Web"/>
              </a:rPr>
              <a:t>доля сессий, открывших карточку «Наборы билетов»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35240" y="3749040"/>
            <a:ext cx="36118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76200" dist="254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18120" y="3822192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850" b="1" i="0">
                <a:solidFill>
                  <a:srgbClr val="EF3124"/>
                </a:solidFill>
                <a:latin typeface="Arial"/>
              </a:rPr>
              <a:t>+</a:t>
            </a:r>
            <a:r>
              <a:rPr sz="1850" b="1" i="0">
                <a:solidFill>
                  <a:srgbClr val="EF3124"/>
                </a:solidFill>
                <a:latin typeface="Styrene A Web"/>
              </a:rPr>
              <a:t>31.7</a:t>
            </a:r>
            <a:r>
              <a:rPr sz="1850" b="1" i="0">
                <a:solidFill>
                  <a:srgbClr val="EF3124"/>
                </a:solidFill>
                <a:latin typeface="Arial"/>
              </a:rPr>
              <a:t>%</a:t>
            </a:r>
            <a:r>
              <a:rPr sz="1850" b="1" i="0">
                <a:solidFill>
                  <a:srgbClr val="EF3124"/>
                </a:solidFill>
                <a:latin typeface="Styrene A Web"/>
              </a:rPr>
              <a:t xml:space="preserve"> к тренду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18120" y="4251960"/>
            <a:ext cx="32918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6E6657"/>
                </a:solidFill>
                <a:latin typeface="Styrene A Web"/>
              </a:rPr>
              <a:t xml:space="preserve">продажи пакетов, p </a:t>
            </a:r>
            <a:r>
              <a:rPr sz="1000" b="0" i="0">
                <a:solidFill>
                  <a:srgbClr val="6E6657"/>
                </a:solidFill>
                <a:latin typeface="Arial"/>
              </a:rPr>
              <a:t>=</a:t>
            </a:r>
            <a:r>
              <a:rPr sz="1000" b="0" i="0">
                <a:solidFill>
                  <a:srgbClr val="6E6657"/>
                </a:solidFill>
                <a:latin typeface="Styrene A Web"/>
              </a:rPr>
              <a:t xml:space="preserve"> 0.031 </a:t>
            </a:r>
            <a:r>
              <a:rPr sz="1000" b="0" i="0">
                <a:solidFill>
                  <a:srgbClr val="6E6657"/>
                </a:solidFill>
                <a:latin typeface="Arial"/>
              </a:rPr>
              <a:t>(</a:t>
            </a:r>
            <a:r>
              <a:rPr sz="1000" b="0" i="0">
                <a:solidFill>
                  <a:srgbClr val="6E6657"/>
                </a:solidFill>
                <a:latin typeface="Styrene A Web"/>
              </a:rPr>
              <a:t xml:space="preserve">сырое: </a:t>
            </a:r>
            <a:r>
              <a:rPr sz="1000" b="0" i="0">
                <a:solidFill>
                  <a:srgbClr val="6E6657"/>
                </a:solidFill>
                <a:latin typeface="Arial"/>
              </a:rPr>
              <a:t>+</a:t>
            </a:r>
            <a:r>
              <a:rPr sz="1000" b="0" i="0">
                <a:solidFill>
                  <a:srgbClr val="6E6657"/>
                </a:solidFill>
                <a:latin typeface="Styrene A Web"/>
              </a:rPr>
              <a:t>27.7</a:t>
            </a:r>
            <a:r>
              <a:rPr sz="1000" b="0" i="0">
                <a:solidFill>
                  <a:srgbClr val="6E6657"/>
                </a:solidFill>
                <a:latin typeface="Arial"/>
              </a:rPr>
              <a:t>%</a:t>
            </a:r>
            <a:r>
              <a:rPr sz="1000" b="0" i="0">
                <a:solidFill>
                  <a:srgbClr val="6E6657"/>
                </a:solidFill>
                <a:latin typeface="Arial"/>
              </a:rPr>
              <a:t>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35240" y="4846320"/>
            <a:ext cx="3611880" cy="777240"/>
          </a:xfrm>
          <a:prstGeom prst="roundRect">
            <a:avLst>
              <a:gd name="adj" fmla="val 10000"/>
            </a:avLst>
          </a:prstGeom>
          <a:solidFill>
            <a:srgbClr val="EDEDED"/>
          </a:solidFill>
          <a:ln>
            <a:noFill/>
          </a:ln>
          <a:effectLst>
            <a:outerShdw blurRad="76200" dist="254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18120" y="4910328"/>
            <a:ext cx="32918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6E6657"/>
                </a:solidFill>
                <a:latin typeface="Styrene A Web"/>
              </a:rPr>
              <a:t>Метод: доля сессий с кликом по карточкам пакетов — дневная ITS-регрессия. Продажи пакетов — та же ITS-модель, что и для одиночных билетов.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68735" y="6382512"/>
            <a:ext cx="457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1000" b="0" i="0">
                <a:solidFill>
                  <a:srgbClr val="9A9282"/>
                </a:solidFill>
                <a:latin typeface="Styrene A Web"/>
              </a:rPr>
              <a:t>4</a:t>
            </a:r>
          </a:p>
        </p:txBody>
      </p:sp>
      <p:pic>
        <p:nvPicPr>
          <p:cNvPr id="20" name="Picture 19" descr="17_packages_onl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7467" y="2697480"/>
            <a:ext cx="6554665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0624"/>
            <a:ext cx="82296" cy="530352"/>
          </a:xfrm>
          <a:prstGeom prst="rect">
            <a:avLst/>
          </a:prstGeom>
          <a:solidFill>
            <a:srgbClr val="EF3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56032"/>
            <a:ext cx="8686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1" i="0">
                <a:solidFill>
                  <a:srgbClr val="6E6657"/>
                </a:solidFill>
                <a:latin typeface="Styrene A Web"/>
              </a:rPr>
              <a:t>НАХОДКА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12064"/>
            <a:ext cx="85039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1A1A1A"/>
                </a:solidFill>
                <a:latin typeface="Styrene A Web"/>
              </a:rPr>
              <a:t>Покупка стала более осознанной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92640" y="457200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FBEFD2"/>
          </a:solidFill>
          <a:ln>
            <a:noFill/>
          </a:ln>
          <a:effectLst>
            <a:outerShdw blurRad="76200" dist="254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1150" b="1">
                <a:solidFill>
                  <a:srgbClr val="9A6B00"/>
                </a:solidFill>
                <a:latin typeface="Styrene A Web"/>
              </a:rPr>
              <a:t>Механизм, не бизнес-эффект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280160"/>
            <a:ext cx="1051560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 i="0">
                <a:solidFill>
                  <a:srgbClr val="6E6657"/>
                </a:solidFill>
                <a:latin typeface="Styrene A Web"/>
              </a:rPr>
              <a:t>Среди тех, кто уже начал оформление, заметно больше доходит до оплаты. Но в оформление теперь заходит меньше людей вообще — отсеиваются те, кто раньше нажимал кнопку просто из любопытства, не зная цены.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901952"/>
            <a:ext cx="10607040" cy="6217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76200" dist="254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20240"/>
            <a:ext cx="15544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EF3124"/>
                </a:solidFill>
                <a:latin typeface="Styrene A Web"/>
              </a:rPr>
              <a:t>Простыми словами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4600" y="1920240"/>
            <a:ext cx="86868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1A1A1A"/>
                </a:solidFill>
                <a:latin typeface="Styrene A Web"/>
              </a:rPr>
              <a:t>Раньше кнопку нажимали в том числе случайно — цена была неизвестна, терять нечего. Теперь цена видна сразу: случайных кликов меньше, зато почти все, кто начал оформление, доходят до оплаты.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35240" y="2697480"/>
            <a:ext cx="36118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76200" dist="254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18120" y="2770632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850" b="1" i="0">
                <a:solidFill>
                  <a:srgbClr val="EF3124"/>
                </a:solidFill>
                <a:latin typeface="Arial"/>
              </a:rPr>
              <a:t>+</a:t>
            </a:r>
            <a:r>
              <a:rPr sz="1850" b="1" i="0">
                <a:solidFill>
                  <a:srgbClr val="EF3124"/>
                </a:solidFill>
                <a:latin typeface="Styrene A Web"/>
              </a:rPr>
              <a:t>13.4 п.п.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3200400"/>
            <a:ext cx="32918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6E6657"/>
                </a:solidFill>
                <a:latin typeface="Styrene A Web"/>
              </a:rPr>
              <a:t>доля дошедших до оплаты среди начавших оформление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35240" y="3749040"/>
            <a:ext cx="36118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76200" dist="254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8120" y="3822192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850" b="1" i="0">
                <a:solidFill>
                  <a:srgbClr val="EF3124"/>
                </a:solidFill>
                <a:latin typeface="Arial"/>
              </a:rPr>
              <a:t>−</a:t>
            </a:r>
            <a:r>
              <a:rPr sz="1850" b="1" i="0">
                <a:solidFill>
                  <a:srgbClr val="EF3124"/>
                </a:solidFill>
                <a:latin typeface="Styrene A Web"/>
              </a:rPr>
              <a:t>6.0 п.п.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18120" y="4251960"/>
            <a:ext cx="32918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6E6657"/>
                </a:solidFill>
                <a:latin typeface="Styrene A Web"/>
              </a:rPr>
              <a:t xml:space="preserve">доля заходящих в оформление </a:t>
            </a:r>
            <a:r>
              <a:rPr sz="1000" b="0" i="0">
                <a:solidFill>
                  <a:srgbClr val="6E6657"/>
                </a:solidFill>
                <a:latin typeface="Arial"/>
              </a:rPr>
              <a:t>(</a:t>
            </a:r>
            <a:r>
              <a:rPr sz="1000" b="0" i="0">
                <a:solidFill>
                  <a:srgbClr val="6E6657"/>
                </a:solidFill>
                <a:latin typeface="Styrene A Web"/>
              </a:rPr>
              <a:t>отсеиваются любопытные</a:t>
            </a:r>
            <a:r>
              <a:rPr sz="1000" b="0" i="0">
                <a:solidFill>
                  <a:srgbClr val="6E6657"/>
                </a:solidFill>
                <a:latin typeface="Arial"/>
              </a:rPr>
              <a:t>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35240" y="4800600"/>
            <a:ext cx="36118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76200" dist="254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18120" y="4873752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850" b="1" i="0">
                <a:solidFill>
                  <a:srgbClr val="EF3124"/>
                </a:solidFill>
                <a:latin typeface="Styrene A Web"/>
              </a:rPr>
              <a:t>26.7</a:t>
            </a:r>
            <a:r>
              <a:rPr sz="1850" b="1" i="0">
                <a:solidFill>
                  <a:srgbClr val="EF3124"/>
                </a:solidFill>
                <a:latin typeface="Arial"/>
              </a:rPr>
              <a:t>%</a:t>
            </a:r>
            <a:r>
              <a:rPr sz="1850" b="1" i="0">
                <a:solidFill>
                  <a:srgbClr val="EF3124"/>
                </a:solidFill>
                <a:latin typeface="Arial"/>
              </a:rPr>
              <a:t>→</a:t>
            </a:r>
            <a:r>
              <a:rPr sz="1850" b="1" i="0">
                <a:solidFill>
                  <a:srgbClr val="EF3124"/>
                </a:solidFill>
                <a:latin typeface="Styrene A Web"/>
              </a:rPr>
              <a:t>26.1</a:t>
            </a:r>
            <a:r>
              <a:rPr sz="1850" b="1" i="0">
                <a:solidFill>
                  <a:srgbClr val="EF3124"/>
                </a:solidFill>
                <a:latin typeface="Arial"/>
              </a:rPr>
              <a:t>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18120" y="5303520"/>
            <a:ext cx="32918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6E6657"/>
                </a:solidFill>
                <a:latin typeface="Styrene A Web"/>
              </a:rPr>
              <a:t>сквозная конверсия «зашёл</a:t>
            </a:r>
            <a:r>
              <a:rPr sz="1000" b="0" i="0">
                <a:solidFill>
                  <a:srgbClr val="6E6657"/>
                </a:solidFill>
                <a:latin typeface="Arial"/>
              </a:rPr>
              <a:t>→</a:t>
            </a:r>
            <a:r>
              <a:rPr sz="1000" b="0" i="0">
                <a:solidFill>
                  <a:srgbClr val="6E6657"/>
                </a:solidFill>
                <a:latin typeface="Styrene A Web"/>
              </a:rPr>
              <a:t>оплатил» — не изменилась значимо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35240" y="5897880"/>
            <a:ext cx="3611880" cy="777240"/>
          </a:xfrm>
          <a:prstGeom prst="roundRect">
            <a:avLst>
              <a:gd name="adj" fmla="val 10000"/>
            </a:avLst>
          </a:prstGeom>
          <a:solidFill>
            <a:srgbClr val="EDEDED"/>
          </a:solidFill>
          <a:ln>
            <a:noFill/>
          </a:ln>
          <a:effectLst>
            <a:outerShdw blurRad="76200" dist="254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8120" y="5961888"/>
            <a:ext cx="32918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6E6657"/>
                </a:solidFill>
                <a:latin typeface="Styrene A Web"/>
              </a:rPr>
              <a:t xml:space="preserve">Метод: ITS на доле </a:t>
            </a:r>
            <a:r>
              <a:rPr sz="950" b="0" i="0">
                <a:solidFill>
                  <a:srgbClr val="6E6657"/>
                </a:solidFill>
                <a:latin typeface="Arial"/>
              </a:rPr>
              <a:t>+</a:t>
            </a:r>
            <a:r>
              <a:rPr sz="950" b="0" i="0">
                <a:solidFill>
                  <a:srgbClr val="6E6657"/>
                </a:solidFill>
                <a:latin typeface="Styrene A Web"/>
              </a:rPr>
              <a:t xml:space="preserve"> quasi-binomial GLM </a:t>
            </a:r>
            <a:r>
              <a:rPr sz="950" b="0" i="0">
                <a:solidFill>
                  <a:srgbClr val="6E6657"/>
                </a:solidFill>
                <a:latin typeface="Arial"/>
              </a:rPr>
              <a:t>(</a:t>
            </a:r>
            <a:r>
              <a:rPr sz="950" b="0" i="0">
                <a:solidFill>
                  <a:srgbClr val="6E6657"/>
                </a:solidFill>
                <a:latin typeface="Styrene A Web"/>
              </a:rPr>
              <a:t xml:space="preserve">overdispersion </a:t>
            </a:r>
            <a:r>
              <a:rPr sz="950" b="0" i="0">
                <a:solidFill>
                  <a:srgbClr val="6E6657"/>
                </a:solidFill>
                <a:latin typeface="Arial"/>
              </a:rPr>
              <a:t>×</a:t>
            </a:r>
            <a:r>
              <a:rPr sz="950" b="0" i="0">
                <a:solidFill>
                  <a:srgbClr val="6E6657"/>
                </a:solidFill>
                <a:latin typeface="Styrene A Web"/>
              </a:rPr>
              <a:t>42</a:t>
            </a:r>
            <a:r>
              <a:rPr sz="950" b="0" i="0">
                <a:solidFill>
                  <a:srgbClr val="6E6657"/>
                </a:solidFill>
                <a:latin typeface="Arial"/>
              </a:rPr>
              <a:t>)</a:t>
            </a:r>
            <a:r>
              <a:rPr sz="950" b="0" i="0">
                <a:solidFill>
                  <a:srgbClr val="6E6657"/>
                </a:solidFill>
                <a:latin typeface="Styrene A Web"/>
              </a:rPr>
              <a:t xml:space="preserve"> — оба метода согласны.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68735" y="6382512"/>
            <a:ext cx="457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1000" b="0" i="0">
                <a:solidFill>
                  <a:srgbClr val="9A9282"/>
                </a:solidFill>
                <a:latin typeface="Styrene A Web"/>
              </a:rPr>
              <a:t>5</a:t>
            </a:r>
          </a:p>
        </p:txBody>
      </p:sp>
      <p:pic>
        <p:nvPicPr>
          <p:cNvPr id="23" name="Picture 22" descr="02_full_funne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1562" y="2697480"/>
            <a:ext cx="6086475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0624"/>
            <a:ext cx="82296" cy="530352"/>
          </a:xfrm>
          <a:prstGeom prst="rect">
            <a:avLst/>
          </a:prstGeom>
          <a:solidFill>
            <a:srgbClr val="EF3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56032"/>
            <a:ext cx="8686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1" i="0">
                <a:solidFill>
                  <a:srgbClr val="6E6657"/>
                </a:solidFill>
                <a:latin typeface="Styrene A Web"/>
              </a:rPr>
              <a:t>НАХОДКА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12064"/>
            <a:ext cx="85039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1A1A1A"/>
                </a:solidFill>
                <a:latin typeface="Styrene A Web"/>
              </a:rPr>
              <a:t>Суммарная выручка экрана выросла на 29–32</a:t>
            </a:r>
            <a:r>
              <a:rPr sz="2300" b="1" i="0">
                <a:solidFill>
                  <a:srgbClr val="1A1A1A"/>
                </a:solidFill>
                <a:latin typeface="Arial"/>
              </a:rPr>
              <a:t>%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92640" y="457200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E3F1E6"/>
          </a:solidFill>
          <a:ln>
            <a:noFill/>
          </a:ln>
          <a:effectLst>
            <a:outerShdw blurRad="76200" dist="254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1150" b="1">
                <a:solidFill>
                  <a:srgbClr val="1F7A3D"/>
                </a:solidFill>
                <a:latin typeface="Styrene A Web"/>
              </a:rPr>
              <a:t>Подтверждено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280160"/>
            <a:ext cx="1051560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 i="0">
                <a:solidFill>
                  <a:srgbClr val="6E6657"/>
                </a:solidFill>
                <a:latin typeface="Styrene A Web"/>
              </a:rPr>
              <a:t xml:space="preserve">Одиночные билеты дешевле пакетов, поэтому важна выручка всего экрана целиком </a:t>
            </a:r>
            <a:r>
              <a:rPr sz="1250" b="0" i="0">
                <a:solidFill>
                  <a:srgbClr val="6E6657"/>
                </a:solidFill>
                <a:latin typeface="Arial"/>
              </a:rPr>
              <a:t>(</a:t>
            </a:r>
            <a:r>
              <a:rPr sz="1250" b="0" i="0">
                <a:solidFill>
                  <a:srgbClr val="6E6657"/>
                </a:solidFill>
                <a:latin typeface="Styrene A Web"/>
              </a:rPr>
              <a:t xml:space="preserve">одиночные </a:t>
            </a:r>
            <a:r>
              <a:rPr sz="1250" b="0" i="0">
                <a:solidFill>
                  <a:srgbClr val="6E6657"/>
                </a:solidFill>
                <a:latin typeface="Arial"/>
              </a:rPr>
              <a:t>+</a:t>
            </a:r>
            <a:r>
              <a:rPr sz="1250" b="0" i="0">
                <a:solidFill>
                  <a:srgbClr val="6E6657"/>
                </a:solidFill>
                <a:latin typeface="Styrene A Web"/>
              </a:rPr>
              <a:t xml:space="preserve"> пакеты вместе</a:t>
            </a:r>
            <a:r>
              <a:rPr sz="1250" b="0" i="0">
                <a:solidFill>
                  <a:srgbClr val="6E6657"/>
                </a:solidFill>
                <a:latin typeface="Arial"/>
              </a:rPr>
              <a:t>)</a:t>
            </a:r>
            <a:r>
              <a:rPr sz="1250" b="0" i="0">
                <a:solidFill>
                  <a:srgbClr val="6E6657"/>
                </a:solidFill>
                <a:latin typeface="Styrene A Web"/>
              </a:rPr>
              <a:t>, а не доля. Здесь сырое сравнение и модель с поправкой на тренд полностью согласны.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901952"/>
            <a:ext cx="10607040" cy="6217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76200" dist="254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20240"/>
            <a:ext cx="15544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EF3124"/>
                </a:solidFill>
                <a:latin typeface="Styrene A Web"/>
              </a:rPr>
              <a:t>Простыми словами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4600" y="1920240"/>
            <a:ext cx="86868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1A1A1A"/>
                </a:solidFill>
                <a:latin typeface="Styrene A Web"/>
              </a:rPr>
              <a:t>Рост одиночных — не история про то, что мы перетянули деньги с пакетов на дешёвый товар. Пакеты выросли сами по себе, одиночные добавились сверху — суммарная выручка выросла примерно на треть.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35240" y="2697480"/>
            <a:ext cx="36118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76200" dist="254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18120" y="2770632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850" b="1" i="0">
                <a:solidFill>
                  <a:srgbClr val="EF3124"/>
                </a:solidFill>
                <a:latin typeface="Arial"/>
              </a:rPr>
              <a:t>+</a:t>
            </a:r>
            <a:r>
              <a:rPr sz="1850" b="1" i="0">
                <a:solidFill>
                  <a:srgbClr val="EF3124"/>
                </a:solidFill>
                <a:latin typeface="Styrene A Web"/>
              </a:rPr>
              <a:t>29–32</a:t>
            </a:r>
            <a:r>
              <a:rPr sz="1850" b="1" i="0">
                <a:solidFill>
                  <a:srgbClr val="EF3124"/>
                </a:solidFill>
                <a:latin typeface="Arial"/>
              </a:rPr>
              <a:t>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3200400"/>
            <a:ext cx="32918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6E6657"/>
                </a:solidFill>
                <a:latin typeface="Styrene A Web"/>
              </a:rPr>
              <a:t xml:space="preserve">p </a:t>
            </a:r>
            <a:r>
              <a:rPr sz="1000" b="0" i="0">
                <a:solidFill>
                  <a:srgbClr val="6E6657"/>
                </a:solidFill>
                <a:latin typeface="Arial"/>
              </a:rPr>
              <a:t>=</a:t>
            </a:r>
            <a:r>
              <a:rPr sz="1000" b="0" i="0">
                <a:solidFill>
                  <a:srgbClr val="6E6657"/>
                </a:solidFill>
                <a:latin typeface="Styrene A Web"/>
              </a:rPr>
              <a:t xml:space="preserve"> 0.001–0.005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35240" y="3749040"/>
            <a:ext cx="36118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76200" dist="254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18120" y="3822192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850" b="1" i="0">
                <a:solidFill>
                  <a:srgbClr val="EF3124"/>
                </a:solidFill>
                <a:latin typeface="Styrene A Web"/>
              </a:rPr>
              <a:t>810</a:t>
            </a:r>
            <a:r>
              <a:rPr sz="1850" b="1" i="0">
                <a:solidFill>
                  <a:srgbClr val="EF3124"/>
                </a:solidFill>
                <a:latin typeface="Arial"/>
              </a:rPr>
              <a:t>→</a:t>
            </a:r>
            <a:r>
              <a:rPr sz="1850" b="1" i="0">
                <a:solidFill>
                  <a:srgbClr val="EF3124"/>
                </a:solidFill>
                <a:latin typeface="Styrene A Web"/>
              </a:rPr>
              <a:t>1069 тыс.руб.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18120" y="4251960"/>
            <a:ext cx="32918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6E6657"/>
                </a:solidFill>
                <a:latin typeface="Styrene A Web"/>
              </a:rPr>
              <a:t>выручка экрана в день, сырое сравнение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35240" y="4800600"/>
            <a:ext cx="36118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76200" dist="254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18120" y="4873752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850" b="1" i="0">
                <a:solidFill>
                  <a:srgbClr val="EF3124"/>
                </a:solidFill>
                <a:latin typeface="Arial"/>
              </a:rPr>
              <a:t>+</a:t>
            </a:r>
            <a:r>
              <a:rPr sz="1850" b="1" i="0">
                <a:solidFill>
                  <a:srgbClr val="EF3124"/>
                </a:solidFill>
                <a:latin typeface="Styrene A Web"/>
              </a:rPr>
              <a:t>29.0</a:t>
            </a:r>
            <a:r>
              <a:rPr sz="1850" b="1" i="0">
                <a:solidFill>
                  <a:srgbClr val="EF3124"/>
                </a:solidFill>
                <a:latin typeface="Arial"/>
              </a:rPr>
              <a:t>%</a:t>
            </a:r>
            <a:r>
              <a:rPr sz="1850" b="1" i="0">
                <a:solidFill>
                  <a:srgbClr val="EF3124"/>
                </a:solidFill>
                <a:latin typeface="Styrene A Web"/>
              </a:rPr>
              <a:t>, ITS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18120" y="5303520"/>
            <a:ext cx="32918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6E6657"/>
                </a:solidFill>
                <a:latin typeface="Styrene A Web"/>
              </a:rPr>
              <a:t xml:space="preserve">p </a:t>
            </a:r>
            <a:r>
              <a:rPr sz="1000" b="0" i="0">
                <a:solidFill>
                  <a:srgbClr val="6E6657"/>
                </a:solidFill>
                <a:latin typeface="Arial"/>
              </a:rPr>
              <a:t>=</a:t>
            </a:r>
            <a:r>
              <a:rPr sz="1000" b="0" i="0">
                <a:solidFill>
                  <a:srgbClr val="6E6657"/>
                </a:solidFill>
                <a:latin typeface="Styrene A Web"/>
              </a:rPr>
              <a:t xml:space="preserve"> 0.0013, с поправкой на тренд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35240" y="5897880"/>
            <a:ext cx="3611880" cy="777240"/>
          </a:xfrm>
          <a:prstGeom prst="roundRect">
            <a:avLst>
              <a:gd name="adj" fmla="val 10000"/>
            </a:avLst>
          </a:prstGeom>
          <a:solidFill>
            <a:srgbClr val="EDEDED"/>
          </a:solidFill>
          <a:ln>
            <a:noFill/>
          </a:ln>
          <a:effectLst>
            <a:outerShdw blurRad="76200" dist="254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18120" y="5961888"/>
            <a:ext cx="32918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6E6657"/>
                </a:solidFill>
                <a:latin typeface="Styrene A Web"/>
              </a:rPr>
              <a:t>Метод: ITS на сумме выручки обоих сегментов экрана. Локальный эффект экрана, не всей лотереи.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68735" y="6382512"/>
            <a:ext cx="457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1000" b="0" i="0">
                <a:solidFill>
                  <a:srgbClr val="9A9282"/>
                </a:solidFill>
                <a:latin typeface="Styrene A Web"/>
              </a:rPr>
              <a:t>6</a:t>
            </a:r>
          </a:p>
        </p:txBody>
      </p:sp>
      <p:pic>
        <p:nvPicPr>
          <p:cNvPr id="23" name="Picture 22" descr="08_total_revenu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7467" y="2697480"/>
            <a:ext cx="6554665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0624"/>
            <a:ext cx="82296" cy="530352"/>
          </a:xfrm>
          <a:prstGeom prst="rect">
            <a:avLst/>
          </a:prstGeom>
          <a:solidFill>
            <a:srgbClr val="EF3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56032"/>
            <a:ext cx="8686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1" i="0">
                <a:solidFill>
                  <a:srgbClr val="6E6657"/>
                </a:solidFill>
                <a:latin typeface="Styrene A Web"/>
              </a:rPr>
              <a:t>НАХОДКА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12064"/>
            <a:ext cx="85039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1A1A1A"/>
                </a:solidFill>
                <a:latin typeface="Styrene A Web"/>
              </a:rPr>
              <a:t>Средний чек снизился — и это ожидаемо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92640" y="457200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E3F1E6"/>
          </a:solidFill>
          <a:ln>
            <a:noFill/>
          </a:ln>
          <a:effectLst>
            <a:outerShdw blurRad="76200" dist="254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1150" b="1">
                <a:solidFill>
                  <a:srgbClr val="1F7A3D"/>
                </a:solidFill>
                <a:latin typeface="Styrene A Web"/>
              </a:rPr>
              <a:t>Подтверждено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280160"/>
            <a:ext cx="1051560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 i="0">
                <a:solidFill>
                  <a:srgbClr val="6E6657"/>
                </a:solidFill>
                <a:latin typeface="Styrene A Web"/>
              </a:rPr>
              <a:t>Чек упал ровно потому, что в общей статистике выросла доля более дешёвых одиночных билетов. При этом общая выручка экрана всё равно выросла — рост в штуках перекрыл снижение чека.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901952"/>
            <a:ext cx="10607040" cy="6217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76200" dist="254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20240"/>
            <a:ext cx="15544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EF3124"/>
                </a:solidFill>
                <a:latin typeface="Styrene A Web"/>
              </a:rPr>
              <a:t>Простыми словами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4600" y="1920240"/>
            <a:ext cx="86868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1A1A1A"/>
                </a:solidFill>
                <a:latin typeface="Styrene A Web"/>
              </a:rPr>
              <a:t xml:space="preserve">Один билет дешевле набора — когда таких покупок стало больше в миксе, средняя сумма одной покупки немного снизилась. Это не потеря денег: общая выручка экрана всё равно выросла </a:t>
            </a:r>
            <a:r>
              <a:rPr sz="1150" b="0" i="0">
                <a:solidFill>
                  <a:srgbClr val="1A1A1A"/>
                </a:solidFill>
                <a:latin typeface="Arial"/>
              </a:rPr>
              <a:t>(</a:t>
            </a:r>
            <a:r>
              <a:rPr sz="1150" b="0" i="0">
                <a:solidFill>
                  <a:srgbClr val="1A1A1A"/>
                </a:solidFill>
                <a:latin typeface="Styrene A Web"/>
              </a:rPr>
              <a:t>см. находку 4</a:t>
            </a:r>
            <a:r>
              <a:rPr sz="1150" b="0" i="0">
                <a:solidFill>
                  <a:srgbClr val="1A1A1A"/>
                </a:solidFill>
                <a:latin typeface="Arial"/>
              </a:rPr>
              <a:t>)</a:t>
            </a:r>
            <a:r>
              <a:rPr sz="1150" b="0" i="0">
                <a:solidFill>
                  <a:srgbClr val="1A1A1A"/>
                </a:solidFill>
                <a:latin typeface="Styrene A Web"/>
              </a:rPr>
              <a:t>, просто считается по-другому.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35240" y="2697480"/>
            <a:ext cx="36118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76200" dist="254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18120" y="2770632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850" b="1" i="0">
                <a:solidFill>
                  <a:srgbClr val="EF3124"/>
                </a:solidFill>
                <a:latin typeface="Styrene A Web"/>
              </a:rPr>
              <a:t>392</a:t>
            </a:r>
            <a:r>
              <a:rPr sz="1850" b="1" i="0">
                <a:solidFill>
                  <a:srgbClr val="EF3124"/>
                </a:solidFill>
                <a:latin typeface="Arial"/>
              </a:rPr>
              <a:t>₽</a:t>
            </a:r>
            <a:r>
              <a:rPr sz="1850" b="1" i="0">
                <a:solidFill>
                  <a:srgbClr val="EF3124"/>
                </a:solidFill>
                <a:latin typeface="Styrene A Web"/>
              </a:rPr>
              <a:t xml:space="preserve"> </a:t>
            </a:r>
            <a:r>
              <a:rPr sz="1850" b="1" i="0">
                <a:solidFill>
                  <a:srgbClr val="EF3124"/>
                </a:solidFill>
                <a:latin typeface="Arial"/>
              </a:rPr>
              <a:t>→</a:t>
            </a:r>
            <a:r>
              <a:rPr sz="1850" b="1" i="0">
                <a:solidFill>
                  <a:srgbClr val="EF3124"/>
                </a:solidFill>
                <a:latin typeface="Styrene A Web"/>
              </a:rPr>
              <a:t xml:space="preserve"> 387</a:t>
            </a:r>
            <a:r>
              <a:rPr sz="1850" b="1" i="0">
                <a:solidFill>
                  <a:srgbClr val="EF3124"/>
                </a:solidFill>
                <a:latin typeface="Arial"/>
              </a:rPr>
              <a:t>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3200400"/>
            <a:ext cx="32918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6E6657"/>
                </a:solidFill>
                <a:latin typeface="Styrene A Web"/>
              </a:rPr>
              <a:t xml:space="preserve">сырое сравнение, не значимо </a:t>
            </a:r>
            <a:r>
              <a:rPr sz="1000" b="0" i="0">
                <a:solidFill>
                  <a:srgbClr val="6E6657"/>
                </a:solidFill>
                <a:latin typeface="Arial"/>
              </a:rPr>
              <a:t>(</a:t>
            </a:r>
            <a:r>
              <a:rPr sz="1000" b="0" i="0">
                <a:solidFill>
                  <a:srgbClr val="6E6657"/>
                </a:solidFill>
                <a:latin typeface="Styrene A Web"/>
              </a:rPr>
              <a:t xml:space="preserve">p </a:t>
            </a:r>
            <a:r>
              <a:rPr sz="1000" b="0" i="0">
                <a:solidFill>
                  <a:srgbClr val="6E6657"/>
                </a:solidFill>
                <a:latin typeface="Arial"/>
              </a:rPr>
              <a:t>=</a:t>
            </a:r>
            <a:r>
              <a:rPr sz="1000" b="0" i="0">
                <a:solidFill>
                  <a:srgbClr val="6E6657"/>
                </a:solidFill>
                <a:latin typeface="Styrene A Web"/>
              </a:rPr>
              <a:t xml:space="preserve"> 0.157</a:t>
            </a:r>
            <a:r>
              <a:rPr sz="1000" b="0" i="0">
                <a:solidFill>
                  <a:srgbClr val="6E6657"/>
                </a:solidFill>
                <a:latin typeface="Arial"/>
              </a:rPr>
              <a:t>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35240" y="3749040"/>
            <a:ext cx="36118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76200" dist="254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18120" y="3822192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850" b="1" i="0">
                <a:solidFill>
                  <a:srgbClr val="EF3124"/>
                </a:solidFill>
                <a:latin typeface="Arial"/>
              </a:rPr>
              <a:t>−</a:t>
            </a:r>
            <a:r>
              <a:rPr sz="1850" b="1" i="0">
                <a:solidFill>
                  <a:srgbClr val="EF3124"/>
                </a:solidFill>
                <a:latin typeface="Styrene A Web"/>
              </a:rPr>
              <a:t>5.9</a:t>
            </a:r>
            <a:r>
              <a:rPr sz="1850" b="1" i="0">
                <a:solidFill>
                  <a:srgbClr val="EF3124"/>
                </a:solidFill>
                <a:latin typeface="Arial"/>
              </a:rPr>
              <a:t>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18120" y="4251960"/>
            <a:ext cx="32918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6E6657"/>
                </a:solidFill>
                <a:latin typeface="Styrene A Web"/>
              </a:rPr>
              <a:t xml:space="preserve">с поправкой на тренд, p </a:t>
            </a:r>
            <a:r>
              <a:rPr sz="1000" b="0" i="0">
                <a:solidFill>
                  <a:srgbClr val="6E6657"/>
                </a:solidFill>
                <a:latin typeface="Arial"/>
              </a:rPr>
              <a:t>&lt;</a:t>
            </a:r>
            <a:r>
              <a:rPr sz="1000" b="0" i="0">
                <a:solidFill>
                  <a:srgbClr val="6E6657"/>
                </a:solidFill>
                <a:latin typeface="Styrene A Web"/>
              </a:rPr>
              <a:t xml:space="preserve"> 0.001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35240" y="4800600"/>
            <a:ext cx="36118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76200" dist="254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18120" y="4873752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850" b="1" i="0">
                <a:solidFill>
                  <a:srgbClr val="EF3124"/>
                </a:solidFill>
                <a:latin typeface="Arial"/>
              </a:rPr>
              <a:t>+</a:t>
            </a:r>
            <a:r>
              <a:rPr sz="1850" b="1" i="0">
                <a:solidFill>
                  <a:srgbClr val="EF3124"/>
                </a:solidFill>
                <a:latin typeface="Styrene A Web"/>
              </a:rPr>
              <a:t>29–32</a:t>
            </a:r>
            <a:r>
              <a:rPr sz="1850" b="1" i="0">
                <a:solidFill>
                  <a:srgbClr val="EF3124"/>
                </a:solidFill>
                <a:latin typeface="Arial"/>
              </a:rPr>
              <a:t>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18120" y="5303520"/>
            <a:ext cx="32918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6E6657"/>
                </a:solidFill>
                <a:latin typeface="Styrene A Web"/>
              </a:rPr>
              <a:t xml:space="preserve">выручка экрана всё равно выросла </a:t>
            </a:r>
            <a:r>
              <a:rPr sz="1000" b="0" i="0">
                <a:solidFill>
                  <a:srgbClr val="6E6657"/>
                </a:solidFill>
                <a:latin typeface="Arial"/>
              </a:rPr>
              <a:t>(</a:t>
            </a:r>
            <a:r>
              <a:rPr sz="1000" b="0" i="0">
                <a:solidFill>
                  <a:srgbClr val="6E6657"/>
                </a:solidFill>
                <a:latin typeface="Styrene A Web"/>
              </a:rPr>
              <a:t>см. находку 4</a:t>
            </a:r>
            <a:r>
              <a:rPr sz="1000" b="0" i="0">
                <a:solidFill>
                  <a:srgbClr val="6E6657"/>
                </a:solidFill>
                <a:latin typeface="Arial"/>
              </a:rPr>
              <a:t>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35240" y="5770000"/>
            <a:ext cx="3611880" cy="990000"/>
          </a:xfrm>
          <a:prstGeom prst="roundRect">
            <a:avLst>
              <a:gd name="adj" fmla="val 10000"/>
            </a:avLst>
          </a:prstGeom>
          <a:solidFill>
            <a:srgbClr val="EDEDED"/>
          </a:solidFill>
          <a:ln>
            <a:noFill/>
          </a:ln>
          <a:effectLst>
            <a:outerShdw blurRad="76200" dist="254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18120" y="5810000"/>
            <a:ext cx="3291840" cy="9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 i="0">
                <a:solidFill>
                  <a:srgbClr val="6E6657"/>
                </a:solidFill>
                <a:latin typeface="Styrene A Web"/>
              </a:rPr>
              <a:t xml:space="preserve">Метод: ITS-регрессия на среднем чеке </a:t>
            </a:r>
            <a:r>
              <a:rPr sz="900" b="0" i="0">
                <a:solidFill>
                  <a:srgbClr val="6E6657"/>
                </a:solidFill>
                <a:latin typeface="Arial"/>
              </a:rPr>
              <a:t>(</a:t>
            </a:r>
            <a:r>
              <a:rPr sz="900" b="0" i="0">
                <a:solidFill>
                  <a:srgbClr val="6E6657"/>
                </a:solidFill>
                <a:latin typeface="Styrene A Web"/>
              </a:rPr>
              <a:t>выручка</a:t>
            </a:r>
            <a:r>
              <a:rPr sz="900" b="0" i="0">
                <a:solidFill>
                  <a:srgbClr val="6E6657"/>
                </a:solidFill>
                <a:latin typeface="Arial"/>
              </a:rPr>
              <a:t>/</a:t>
            </a:r>
            <a:r>
              <a:rPr sz="900" b="0" i="0">
                <a:solidFill>
                  <a:srgbClr val="6E6657"/>
                </a:solidFill>
                <a:latin typeface="Styrene A Web"/>
              </a:rPr>
              <a:t>покупки, оба сегмента вместе</a:t>
            </a:r>
            <a:r>
              <a:rPr sz="900" b="0" i="0">
                <a:solidFill>
                  <a:srgbClr val="6E6657"/>
                </a:solidFill>
                <a:latin typeface="Arial"/>
              </a:rPr>
              <a:t>)</a:t>
            </a:r>
            <a:r>
              <a:rPr sz="900" b="0" i="0">
                <a:solidFill>
                  <a:srgbClr val="6E6657"/>
                </a:solidFill>
                <a:latin typeface="Styrene A Web"/>
              </a:rPr>
              <a:t>. Раскрытие «раз в деньгах, раз с поправкой на тренд» — методологическая честность: при разных методах ответ на вопрос «значимо ли» разный.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68735" y="6382512"/>
            <a:ext cx="457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1000" b="0" i="0">
                <a:solidFill>
                  <a:srgbClr val="9A9282"/>
                </a:solidFill>
                <a:latin typeface="Styrene A Web"/>
              </a:rPr>
              <a:t>7</a:t>
            </a:r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467" y="2697480"/>
            <a:ext cx="6554665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0624"/>
            <a:ext cx="82296" cy="530352"/>
          </a:xfrm>
          <a:prstGeom prst="rect">
            <a:avLst/>
          </a:prstGeom>
          <a:solidFill>
            <a:srgbClr val="EF3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56032"/>
            <a:ext cx="8686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1" i="0">
                <a:solidFill>
                  <a:srgbClr val="6E6657"/>
                </a:solidFill>
                <a:latin typeface="Styrene A Web"/>
              </a:rPr>
              <a:t>КОНТЕКСТ, НЕ ОТДЕЛЬНАЯ ГИПОТЕЗА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12064"/>
            <a:ext cx="85039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1A1A1A"/>
                </a:solidFill>
                <a:latin typeface="Styrene A Web"/>
              </a:rPr>
              <a:t>Вторая точка — баннер «Выгода» — показывает похожий рост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92640" y="457200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FBEFD2"/>
          </a:solidFill>
          <a:ln>
            <a:noFill/>
          </a:ln>
          <a:effectLst>
            <a:outerShdw blurRad="76200" dist="254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1150" b="1">
                <a:solidFill>
                  <a:srgbClr val="9A6B00"/>
                </a:solidFill>
                <a:latin typeface="Styrene A Web"/>
              </a:rPr>
              <a:t>На грани значимости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280160"/>
            <a:ext cx="1051560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 i="0">
                <a:solidFill>
                  <a:srgbClr val="6E6657"/>
                </a:solidFill>
                <a:latin typeface="Styrene A Web"/>
              </a:rPr>
              <a:t>Баннер на вкладке «Выгода» получил то же изменение кнопки 14.09. Это не плацебо — вторая точка с тем же текстом.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901952"/>
            <a:ext cx="10607040" cy="6217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76200" dist="254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20240"/>
            <a:ext cx="15544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EF3124"/>
                </a:solidFill>
                <a:latin typeface="Styrene A Web"/>
              </a:rPr>
              <a:t>Простыми словами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4600" y="1920240"/>
            <a:ext cx="86868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1A1A1A"/>
                </a:solidFill>
                <a:latin typeface="Styrene A Web"/>
              </a:rPr>
              <a:t>Implied CR баннера тоже вырос после 14.09, даже сильнее кнопки в относительном выражении. Но p</a:t>
            </a:r>
            <a:r>
              <a:rPr sz="1150" b="0" i="0">
                <a:solidFill>
                  <a:srgbClr val="1A1A1A"/>
                </a:solidFill>
                <a:latin typeface="Arial"/>
              </a:rPr>
              <a:t>=</a:t>
            </a:r>
            <a:r>
              <a:rPr sz="1150" b="0" i="0">
                <a:solidFill>
                  <a:srgbClr val="1A1A1A"/>
                </a:solidFill>
                <a:latin typeface="Styrene A Web"/>
              </a:rPr>
              <a:t>0.056–0.066 — на грани значимости, отдельным подтверждённым выводом не публикуем, только как контекст, что оба места показывают похожее направление.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35240" y="2697480"/>
            <a:ext cx="36118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76200" dist="254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18120" y="2770632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850" b="1" i="0">
                <a:solidFill>
                  <a:srgbClr val="EF3124"/>
                </a:solidFill>
                <a:latin typeface="Styrene A Web"/>
              </a:rPr>
              <a:t>Направление похоже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3200400"/>
            <a:ext cx="32918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6E6657"/>
                </a:solidFill>
                <a:latin typeface="Styrene A Web"/>
              </a:rPr>
              <a:t xml:space="preserve">на находку 2 </a:t>
            </a:r>
            <a:r>
              <a:rPr sz="1000" b="0" i="0">
                <a:solidFill>
                  <a:srgbClr val="6E6657"/>
                </a:solidFill>
                <a:latin typeface="Arial"/>
              </a:rPr>
              <a:t>(</a:t>
            </a:r>
            <a:r>
              <a:rPr sz="1000" b="0" i="0">
                <a:solidFill>
                  <a:srgbClr val="6E6657"/>
                </a:solidFill>
                <a:latin typeface="Styrene A Web"/>
              </a:rPr>
              <a:t>кнопка</a:t>
            </a:r>
            <a:r>
              <a:rPr sz="1000" b="0" i="0">
                <a:solidFill>
                  <a:srgbClr val="6E6657"/>
                </a:solidFill>
                <a:latin typeface="Arial"/>
              </a:rPr>
              <a:t>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35240" y="3749040"/>
            <a:ext cx="36118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76200" dist="254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18120" y="3822192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850" b="1" i="0">
                <a:solidFill>
                  <a:srgbClr val="EF3124"/>
                </a:solidFill>
                <a:latin typeface="Styrene A Web"/>
              </a:rPr>
              <a:t xml:space="preserve">p </a:t>
            </a:r>
            <a:r>
              <a:rPr sz="1850" b="1" i="0">
                <a:solidFill>
                  <a:srgbClr val="EF3124"/>
                </a:solidFill>
                <a:latin typeface="Arial"/>
              </a:rPr>
              <a:t>=</a:t>
            </a:r>
            <a:r>
              <a:rPr sz="1850" b="1" i="0">
                <a:solidFill>
                  <a:srgbClr val="EF3124"/>
                </a:solidFill>
                <a:latin typeface="Styrene A Web"/>
              </a:rPr>
              <a:t xml:space="preserve"> 0.056–0.066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18120" y="4251960"/>
            <a:ext cx="32918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6E6657"/>
                </a:solidFill>
                <a:latin typeface="Styrene A Web"/>
              </a:rPr>
              <a:t>на грани значимости, не публикуется как отдельное подтверждение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35240" y="4846320"/>
            <a:ext cx="3611880" cy="777240"/>
          </a:xfrm>
          <a:prstGeom prst="roundRect">
            <a:avLst>
              <a:gd name="adj" fmla="val 10000"/>
            </a:avLst>
          </a:prstGeom>
          <a:solidFill>
            <a:srgbClr val="EDEDED"/>
          </a:solidFill>
          <a:ln>
            <a:noFill/>
          </a:ln>
          <a:effectLst>
            <a:outerShdw blurRad="76200" dist="254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18120" y="4910328"/>
            <a:ext cx="32918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6E6657"/>
                </a:solidFill>
                <a:latin typeface="Styrene A Web"/>
              </a:rPr>
              <a:t xml:space="preserve">Метод: та же дневная ITS-регрессия на implied CR, что и для кнопки </a:t>
            </a:r>
            <a:r>
              <a:rPr sz="950" b="0" i="0">
                <a:solidFill>
                  <a:srgbClr val="6E6657"/>
                </a:solidFill>
                <a:latin typeface="Arial"/>
              </a:rPr>
              <a:t>(</a:t>
            </a:r>
            <a:r>
              <a:rPr sz="950" b="0" i="0">
                <a:solidFill>
                  <a:srgbClr val="6E6657"/>
                </a:solidFill>
                <a:latin typeface="Styrene A Web"/>
              </a:rPr>
              <a:t>находка 2</a:t>
            </a:r>
            <a:r>
              <a:rPr sz="950" b="0" i="0">
                <a:solidFill>
                  <a:srgbClr val="6E6657"/>
                </a:solidFill>
                <a:latin typeface="Arial"/>
              </a:rPr>
              <a:t>)</a:t>
            </a:r>
            <a:r>
              <a:rPr sz="950" b="0" i="0">
                <a:solidFill>
                  <a:srgbClr val="6E6657"/>
                </a:solidFill>
                <a:latin typeface="Styrene A Web"/>
              </a:rPr>
              <a:t>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68735" y="6382512"/>
            <a:ext cx="457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1000" b="0" i="0">
                <a:solidFill>
                  <a:srgbClr val="9A9282"/>
                </a:solidFill>
                <a:latin typeface="Styrene A Web"/>
              </a:rPr>
              <a:t>8</a:t>
            </a:r>
          </a:p>
        </p:txBody>
      </p:sp>
      <p:pic>
        <p:nvPicPr>
          <p:cNvPr id="20" name="Picture 19" descr="slide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467" y="2697480"/>
            <a:ext cx="6554665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0624"/>
            <a:ext cx="82296" cy="530352"/>
          </a:xfrm>
          <a:prstGeom prst="rect">
            <a:avLst/>
          </a:prstGeom>
          <a:solidFill>
            <a:srgbClr val="EF3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56032"/>
            <a:ext cx="8686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1" i="0">
                <a:solidFill>
                  <a:srgbClr val="6E6657"/>
                </a:solidFill>
                <a:latin typeface="Styrene A Web"/>
              </a:rPr>
              <a:t>КОНТЕКСТ — СРАВНЕНИЕ ДВУХ ТОЧЕК ВХОДА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12064"/>
            <a:ext cx="85039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1A1A1A"/>
                </a:solidFill>
                <a:latin typeface="Styrene A Web"/>
              </a:rPr>
              <a:t>Кнопка даёт больше продаж и выше конверсию, чем баннер «Выгода»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92640" y="457200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FBEFD2"/>
          </a:solidFill>
          <a:ln>
            <a:noFill/>
          </a:ln>
          <a:effectLst>
            <a:outerShdw blurRad="76200" dist="254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1150" b="1">
                <a:solidFill>
                  <a:srgbClr val="9A6B00"/>
                </a:solidFill>
                <a:latin typeface="Styrene A Web"/>
              </a:rPr>
              <a:t>Описательный контекст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280160"/>
            <a:ext cx="1051560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 i="0">
                <a:solidFill>
                  <a:srgbClr val="6E6657"/>
                </a:solidFill>
                <a:latin typeface="Styrene A Web"/>
              </a:rPr>
              <a:t xml:space="preserve">Прямое сравнение масштаба двух точек входа с 14.09 по 05.10 </a:t>
            </a:r>
            <a:r>
              <a:rPr sz="1250" b="0" i="0">
                <a:solidFill>
                  <a:srgbClr val="6E6657"/>
                </a:solidFill>
                <a:latin typeface="Arial"/>
              </a:rPr>
              <a:t>(</a:t>
            </a:r>
            <a:r>
              <a:rPr sz="1250" b="0" i="0">
                <a:solidFill>
                  <a:srgbClr val="6E6657"/>
                </a:solidFill>
                <a:latin typeface="Styrene A Web"/>
              </a:rPr>
              <a:t>21 день</a:t>
            </a:r>
            <a:r>
              <a:rPr sz="1250" b="0" i="0">
                <a:solidFill>
                  <a:srgbClr val="6E6657"/>
                </a:solidFill>
                <a:latin typeface="Arial"/>
              </a:rPr>
              <a:t>)</a:t>
            </a:r>
            <a:r>
              <a:rPr sz="1250" b="0" i="0">
                <a:solidFill>
                  <a:srgbClr val="6E6657"/>
                </a:solidFill>
                <a:latin typeface="Styrene A Web"/>
              </a:rPr>
              <a:t>. Не причинный тест — обе точки существовали и до, и после изменения кнопки, сравниваются просто по объёму и конверсии в этот период.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901952"/>
            <a:ext cx="10607040" cy="6217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76200" dist="254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20240"/>
            <a:ext cx="15544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EF3124"/>
                </a:solidFill>
                <a:latin typeface="Styrene A Web"/>
              </a:rPr>
              <a:t>Простыми словами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4600" y="1920240"/>
            <a:ext cx="86868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1A1A1A"/>
                </a:solidFill>
                <a:latin typeface="Styrene A Web"/>
              </a:rPr>
              <a:t>Кнопка на экране розыгрыша — основной, более заметный путь покупки: конвертирует лучше и даёт более чем вдвое больше билетов и выручки, чем баннер на вкладке «Выгода» в лояльности.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35240" y="2697480"/>
            <a:ext cx="36118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76200" dist="254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18120" y="2770632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850" b="1" i="0">
                <a:solidFill>
                  <a:srgbClr val="EF3124"/>
                </a:solidFill>
                <a:latin typeface="Styrene A Web"/>
              </a:rPr>
              <a:t>14.5</a:t>
            </a:r>
            <a:r>
              <a:rPr sz="1850" b="1" i="0">
                <a:solidFill>
                  <a:srgbClr val="EF3124"/>
                </a:solidFill>
                <a:latin typeface="Arial"/>
              </a:rPr>
              <a:t>%</a:t>
            </a:r>
            <a:r>
              <a:rPr sz="1850" b="1" i="0">
                <a:solidFill>
                  <a:srgbClr val="EF3124"/>
                </a:solidFill>
                <a:latin typeface="Styrene A Web"/>
              </a:rPr>
              <a:t xml:space="preserve"> vs 11.4</a:t>
            </a:r>
            <a:r>
              <a:rPr sz="1850" b="1" i="0">
                <a:solidFill>
                  <a:srgbClr val="EF3124"/>
                </a:solidFill>
                <a:latin typeface="Arial"/>
              </a:rPr>
              <a:t>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3200400"/>
            <a:ext cx="32918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6E6657"/>
                </a:solidFill>
                <a:latin typeface="Styrene A Web"/>
              </a:rPr>
              <a:t>implied CR: кнопка выше баннера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35240" y="3749040"/>
            <a:ext cx="36118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76200" dist="254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18120" y="3822192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850" b="1" i="0">
                <a:solidFill>
                  <a:srgbClr val="EF3124"/>
                </a:solidFill>
                <a:latin typeface="Styrene A Web"/>
              </a:rPr>
              <a:t xml:space="preserve">22.5 vs 10.0 млн </a:t>
            </a:r>
            <a:r>
              <a:rPr sz="1850" b="1" i="0">
                <a:solidFill>
                  <a:srgbClr val="EF3124"/>
                </a:solidFill>
                <a:latin typeface="Arial"/>
              </a:rPr>
              <a:t>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18120" y="4251960"/>
            <a:ext cx="32918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6E6657"/>
                </a:solidFill>
                <a:latin typeface="Styrene A Web"/>
              </a:rPr>
              <a:t xml:space="preserve">выручка кнопки больше чем вдвое </a:t>
            </a:r>
            <a:r>
              <a:rPr sz="1000" b="0" i="0">
                <a:solidFill>
                  <a:srgbClr val="6E6657"/>
                </a:solidFill>
                <a:latin typeface="Arial"/>
              </a:rPr>
              <a:t>(</a:t>
            </a:r>
            <a:r>
              <a:rPr sz="1000" b="0" i="0">
                <a:solidFill>
                  <a:srgbClr val="6E6657"/>
                </a:solidFill>
                <a:latin typeface="Styrene A Web"/>
              </a:rPr>
              <a:t>112К vs 50К билетов</a:t>
            </a:r>
            <a:r>
              <a:rPr sz="1000" b="0" i="0">
                <a:solidFill>
                  <a:srgbClr val="6E6657"/>
                </a:solidFill>
                <a:latin typeface="Arial"/>
              </a:rPr>
              <a:t>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35240" y="4846320"/>
            <a:ext cx="3611880" cy="777240"/>
          </a:xfrm>
          <a:prstGeom prst="roundRect">
            <a:avLst>
              <a:gd name="adj" fmla="val 10000"/>
            </a:avLst>
          </a:prstGeom>
          <a:solidFill>
            <a:srgbClr val="EDEDED"/>
          </a:solidFill>
          <a:ln>
            <a:noFill/>
          </a:ln>
          <a:effectLst>
            <a:outerShdw blurRad="76200" dist="254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18120" y="4910328"/>
            <a:ext cx="32918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6E6657"/>
                </a:solidFill>
                <a:latin typeface="Styrene A Web"/>
              </a:rPr>
              <a:t>Метод: покупки</a:t>
            </a:r>
            <a:r>
              <a:rPr sz="950" b="0" i="0">
                <a:solidFill>
                  <a:srgbClr val="6E6657"/>
                </a:solidFill>
                <a:latin typeface="Arial"/>
              </a:rPr>
              <a:t>/</a:t>
            </a:r>
            <a:r>
              <a:rPr sz="950" b="0" i="0">
                <a:solidFill>
                  <a:srgbClr val="6E6657"/>
                </a:solidFill>
                <a:latin typeface="Styrene A Web"/>
              </a:rPr>
              <a:t>выручка — прямой подсчёт по dimension</a:t>
            </a:r>
            <a:r>
              <a:rPr sz="950" b="0" i="0">
                <a:solidFill>
                  <a:srgbClr val="6E6657"/>
                </a:solidFill>
                <a:latin typeface="Arial"/>
              </a:rPr>
              <a:t>_</a:t>
            </a:r>
            <a:r>
              <a:rPr sz="950" b="0" i="0">
                <a:solidFill>
                  <a:srgbClr val="6E6657"/>
                </a:solidFill>
                <a:latin typeface="Styrene A Web"/>
              </a:rPr>
              <a:t xml:space="preserve">7. Конверсия — implied CR </a:t>
            </a:r>
            <a:r>
              <a:rPr sz="950" b="0" i="0">
                <a:solidFill>
                  <a:srgbClr val="6E6657"/>
                </a:solidFill>
                <a:latin typeface="Arial"/>
              </a:rPr>
              <a:t>=</a:t>
            </a:r>
            <a:r>
              <a:rPr sz="950" b="0" i="0">
                <a:solidFill>
                  <a:srgbClr val="6E6657"/>
                </a:solidFill>
                <a:latin typeface="Styrene A Web"/>
              </a:rPr>
              <a:t xml:space="preserve"> покупки </a:t>
            </a:r>
            <a:r>
              <a:rPr sz="950" b="0" i="0">
                <a:solidFill>
                  <a:srgbClr val="6E6657"/>
                </a:solidFill>
                <a:latin typeface="Arial"/>
              </a:rPr>
              <a:t>/</a:t>
            </a:r>
            <a:r>
              <a:rPr sz="950" b="0" i="0">
                <a:solidFill>
                  <a:srgbClr val="6E6657"/>
                </a:solidFill>
                <a:latin typeface="Styrene A Web"/>
              </a:rPr>
              <a:t xml:space="preserve"> честный MAU экрана-хоста </a:t>
            </a:r>
            <a:r>
              <a:rPr sz="950" b="0" i="0">
                <a:solidFill>
                  <a:srgbClr val="6E6657"/>
                </a:solidFill>
                <a:latin typeface="Arial"/>
              </a:rPr>
              <a:t>(</a:t>
            </a:r>
            <a:r>
              <a:rPr sz="950" b="0" i="0">
                <a:solidFill>
                  <a:srgbClr val="6E6657"/>
                </a:solidFill>
                <a:latin typeface="Styrene A Web"/>
              </a:rPr>
              <a:t>COUNT DISTINCT primary</a:t>
            </a:r>
            <a:r>
              <a:rPr sz="950" b="0" i="0">
                <a:solidFill>
                  <a:srgbClr val="6E6657"/>
                </a:solidFill>
                <a:latin typeface="Arial"/>
              </a:rPr>
              <a:t>_</a:t>
            </a:r>
            <a:r>
              <a:rPr sz="950" b="0" i="0">
                <a:solidFill>
                  <a:srgbClr val="6E6657"/>
                </a:solidFill>
                <a:latin typeface="Styrene A Web"/>
              </a:rPr>
              <a:t>user</a:t>
            </a:r>
            <a:r>
              <a:rPr sz="950" b="0" i="0">
                <a:solidFill>
                  <a:srgbClr val="6E6657"/>
                </a:solidFill>
                <a:latin typeface="Arial"/>
              </a:rPr>
              <a:t>_</a:t>
            </a:r>
            <a:r>
              <a:rPr sz="950" b="0" i="0">
                <a:solidFill>
                  <a:srgbClr val="6E6657"/>
                </a:solidFill>
                <a:latin typeface="Styrene A Web"/>
              </a:rPr>
              <a:t>id</a:t>
            </a:r>
            <a:r>
              <a:rPr sz="950" b="0" i="0">
                <a:solidFill>
                  <a:srgbClr val="6E6657"/>
                </a:solidFill>
                <a:latin typeface="Arial"/>
              </a:rPr>
              <a:t>)</a:t>
            </a:r>
            <a:r>
              <a:rPr sz="950" b="0" i="0">
                <a:solidFill>
                  <a:srgbClr val="6E6657"/>
                </a:solidFill>
                <a:latin typeface="Styrene A Web"/>
              </a:rPr>
              <a:t xml:space="preserve">. Для баннера — экран Benefits; у кнопки нет Screen View событий </a:t>
            </a:r>
            <a:r>
              <a:rPr sz="950" b="0" i="0">
                <a:solidFill>
                  <a:srgbClr val="6E6657"/>
                </a:solidFill>
                <a:latin typeface="Arial"/>
              </a:rPr>
              <a:t>(</a:t>
            </a:r>
            <a:r>
              <a:rPr sz="950" b="0" i="0">
                <a:solidFill>
                  <a:srgbClr val="6E6657"/>
                </a:solidFill>
                <a:latin typeface="Styrene A Web"/>
              </a:rPr>
              <a:t>Jackflow</a:t>
            </a:r>
            <a:r>
              <a:rPr sz="950" b="0" i="0">
                <a:solidFill>
                  <a:srgbClr val="6E6657"/>
                </a:solidFill>
                <a:latin typeface="Arial"/>
              </a:rPr>
              <a:t>)</a:t>
            </a:r>
            <a:r>
              <a:rPr sz="950" b="0" i="0">
                <a:solidFill>
                  <a:srgbClr val="6E6657"/>
                </a:solidFill>
                <a:latin typeface="Styrene A Web"/>
              </a:rPr>
              <a:t>, её CR взят из ранее посчитанной ITS-находки — методология знаменателя разная, сравнение ориентировочное.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68735" y="6382512"/>
            <a:ext cx="457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1000" b="0" i="0">
                <a:solidFill>
                  <a:srgbClr val="9A9282"/>
                </a:solidFill>
                <a:latin typeface="Styrene A Web"/>
              </a:rPr>
              <a:t>9</a:t>
            </a:r>
          </a:p>
        </p:txBody>
      </p:sp>
      <p:pic>
        <p:nvPicPr>
          <p:cNvPr id="20" name="Picture 19" descr="15_mainbanner_vs_butt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467" y="2697480"/>
            <a:ext cx="6554665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0624"/>
            <a:ext cx="82296" cy="530352"/>
          </a:xfrm>
          <a:prstGeom prst="rect">
            <a:avLst/>
          </a:prstGeom>
          <a:solidFill>
            <a:srgbClr val="EF3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56032"/>
            <a:ext cx="8686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1" i="0">
                <a:solidFill>
                  <a:srgbClr val="6E6657"/>
                </a:solidFill>
                <a:latin typeface="Styrene A Web"/>
              </a:rPr>
              <a:t>НАХОДКА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12064"/>
            <a:ext cx="85039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1A1A1A"/>
                </a:solidFill>
                <a:latin typeface="Styrene A Web"/>
              </a:rPr>
              <a:t>Приток новых клиентов — это перераспределение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92640" y="457200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FBEFD2"/>
          </a:solidFill>
          <a:ln>
            <a:noFill/>
          </a:ln>
          <a:effectLst>
            <a:outerShdw blurRad="76200" dist="254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1150" b="1">
                <a:solidFill>
                  <a:srgbClr val="9A6B00"/>
                </a:solidFill>
                <a:latin typeface="Styrene A Web"/>
              </a:rPr>
              <a:t>Подтверждено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280160"/>
            <a:ext cx="1051560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 i="0">
                <a:solidFill>
                  <a:srgbClr val="6E6657"/>
                </a:solidFill>
                <a:latin typeface="Styrene A Web"/>
              </a:rPr>
              <a:t>Другой вопрос: растёт ли число СОВСЕМ новых покупателей во всём продукте, или кнопка просто перехватывает тех, кто и так пришёл бы через другую точку входа?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901952"/>
            <a:ext cx="10607040" cy="6217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76200" dist="254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20240"/>
            <a:ext cx="15544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EF3124"/>
                </a:solidFill>
                <a:latin typeface="Styrene A Web"/>
              </a:rPr>
              <a:t>Простыми словами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4600" y="1920240"/>
            <a:ext cx="86868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1A1A1A"/>
                </a:solidFill>
                <a:latin typeface="Styrene A Web"/>
              </a:rPr>
              <a:t>Новых клиентов через саму кнопку стало заметно больше. Но общее число новых клиентов во ВСЁМ продукте не изменилось — кнопка не создаёт новый спрос, а перетягивает его с других точек входа.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35240" y="2697480"/>
            <a:ext cx="36118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76200" dist="254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18120" y="2770632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850" b="1" i="0">
                <a:solidFill>
                  <a:srgbClr val="EF3124"/>
                </a:solidFill>
                <a:latin typeface="Arial"/>
              </a:rPr>
              <a:t>+</a:t>
            </a:r>
            <a:r>
              <a:rPr sz="1850" b="1" i="0">
                <a:solidFill>
                  <a:srgbClr val="EF3124"/>
                </a:solidFill>
                <a:latin typeface="Styrene A Web"/>
              </a:rPr>
              <a:t>114</a:t>
            </a:r>
            <a:r>
              <a:rPr sz="1850" b="1" i="0">
                <a:solidFill>
                  <a:srgbClr val="EF3124"/>
                </a:solidFill>
                <a:latin typeface="Arial"/>
              </a:rPr>
              <a:t>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3200400"/>
            <a:ext cx="32918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6E6657"/>
                </a:solidFill>
                <a:latin typeface="Styrene A Web"/>
              </a:rPr>
              <a:t xml:space="preserve">новых через кнопку, p </a:t>
            </a:r>
            <a:r>
              <a:rPr sz="1000" b="0" i="0">
                <a:solidFill>
                  <a:srgbClr val="6E6657"/>
                </a:solidFill>
                <a:latin typeface="Arial"/>
              </a:rPr>
              <a:t>&lt;</a:t>
            </a:r>
            <a:r>
              <a:rPr sz="1000" b="0" i="0">
                <a:solidFill>
                  <a:srgbClr val="6E6657"/>
                </a:solidFill>
                <a:latin typeface="Styrene A Web"/>
              </a:rPr>
              <a:t xml:space="preserve"> 0.001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35240" y="3749040"/>
            <a:ext cx="36118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76200" dist="254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18120" y="3822192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850" b="1" i="0">
                <a:solidFill>
                  <a:srgbClr val="EF3124"/>
                </a:solidFill>
                <a:latin typeface="Arial"/>
              </a:rPr>
              <a:t>+</a:t>
            </a:r>
            <a:r>
              <a:rPr sz="1850" b="1" i="0">
                <a:solidFill>
                  <a:srgbClr val="EF3124"/>
                </a:solidFill>
                <a:latin typeface="Styrene A Web"/>
              </a:rPr>
              <a:t>0.7</a:t>
            </a:r>
            <a:r>
              <a:rPr sz="1850" b="1" i="0">
                <a:solidFill>
                  <a:srgbClr val="EF3124"/>
                </a:solidFill>
                <a:latin typeface="Arial"/>
              </a:rPr>
              <a:t>%</a:t>
            </a:r>
            <a:r>
              <a:rPr sz="1850" b="1" i="0">
                <a:solidFill>
                  <a:srgbClr val="EF3124"/>
                </a:solidFill>
                <a:latin typeface="Styrene A Web"/>
              </a:rPr>
              <a:t>, н</a:t>
            </a:r>
            <a:r>
              <a:rPr sz="1850" b="1" i="0">
                <a:solidFill>
                  <a:srgbClr val="EF3124"/>
                </a:solidFill>
                <a:latin typeface="Arial"/>
              </a:rPr>
              <a:t>/</a:t>
            </a:r>
            <a:r>
              <a:rPr sz="1850" b="1" i="0">
                <a:solidFill>
                  <a:srgbClr val="EF3124"/>
                </a:solidFill>
                <a:latin typeface="Styrene A Web"/>
              </a:rPr>
              <a:t>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18120" y="4251960"/>
            <a:ext cx="32918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6E6657"/>
                </a:solidFill>
                <a:latin typeface="Styrene A Web"/>
              </a:rPr>
              <a:t xml:space="preserve">новых во весь продукт, p </a:t>
            </a:r>
            <a:r>
              <a:rPr sz="1000" b="0" i="0">
                <a:solidFill>
                  <a:srgbClr val="6E6657"/>
                </a:solidFill>
                <a:latin typeface="Arial"/>
              </a:rPr>
              <a:t>=</a:t>
            </a:r>
            <a:r>
              <a:rPr sz="1000" b="0" i="0">
                <a:solidFill>
                  <a:srgbClr val="6E6657"/>
                </a:solidFill>
                <a:latin typeface="Styrene A Web"/>
              </a:rPr>
              <a:t xml:space="preserve"> 0.954 — плоско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35240" y="4800600"/>
            <a:ext cx="36118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76200" dist="254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18120" y="4873752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850" b="1" i="0">
                <a:solidFill>
                  <a:srgbClr val="EF3124"/>
                </a:solidFill>
                <a:latin typeface="Styrene A Web"/>
              </a:rPr>
              <a:t>Сверено по client</a:t>
            </a:r>
            <a:r>
              <a:rPr sz="1850" b="1" i="0">
                <a:solidFill>
                  <a:srgbClr val="EF3124"/>
                </a:solidFill>
                <a:latin typeface="Arial"/>
              </a:rPr>
              <a:t>_</a:t>
            </a:r>
            <a:r>
              <a:rPr sz="1850" b="1" i="0">
                <a:solidFill>
                  <a:srgbClr val="EF3124"/>
                </a:solidFill>
                <a:latin typeface="Styrene A Web"/>
              </a:rPr>
              <a:t>id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18120" y="5303520"/>
            <a:ext cx="32918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6E6657"/>
                </a:solidFill>
                <a:latin typeface="Styrene A Web"/>
              </a:rPr>
              <a:t xml:space="preserve">сумма по группам </a:t>
            </a:r>
            <a:r>
              <a:rPr sz="1000" b="0" i="0">
                <a:solidFill>
                  <a:srgbClr val="6E6657"/>
                </a:solidFill>
                <a:latin typeface="Arial"/>
              </a:rPr>
              <a:t>=</a:t>
            </a:r>
            <a:r>
              <a:rPr sz="1000" b="0" i="0">
                <a:solidFill>
                  <a:srgbClr val="6E6657"/>
                </a:solidFill>
                <a:latin typeface="Styrene A Web"/>
              </a:rPr>
              <a:t xml:space="preserve"> тотал, 0 расхождений на 70 днях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35240" y="5897880"/>
            <a:ext cx="3611880" cy="777240"/>
          </a:xfrm>
          <a:prstGeom prst="roundRect">
            <a:avLst>
              <a:gd name="adj" fmla="val 10000"/>
            </a:avLst>
          </a:prstGeom>
          <a:solidFill>
            <a:srgbClr val="EDEDED"/>
          </a:solidFill>
          <a:ln>
            <a:noFill/>
          </a:ln>
          <a:effectLst>
            <a:outerShdw blurRad="76200" dist="254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18120" y="5961888"/>
            <a:ext cx="32918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6E6657"/>
                </a:solidFill>
                <a:latin typeface="Styrene A Web"/>
              </a:rPr>
              <a:t>Метод: клиентский критерий «первая покупка за всю историю», дневная ITS на числе новых покупателей.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68735" y="6382512"/>
            <a:ext cx="457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1000" b="0" i="0">
                <a:solidFill>
                  <a:srgbClr val="9A9282"/>
                </a:solidFill>
                <a:latin typeface="Styrene A Web"/>
              </a:rPr>
              <a:t>10</a:t>
            </a:r>
          </a:p>
        </p:txBody>
      </p:sp>
      <p:pic>
        <p:nvPicPr>
          <p:cNvPr id="23" name="Picture 22" descr="10_redistribut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8850" y="2697480"/>
            <a:ext cx="6311900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0624"/>
            <a:ext cx="82296" cy="530352"/>
          </a:xfrm>
          <a:prstGeom prst="rect">
            <a:avLst/>
          </a:prstGeom>
          <a:solidFill>
            <a:srgbClr val="EF3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56032"/>
            <a:ext cx="9601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1" i="0">
                <a:solidFill>
                  <a:srgbClr val="6E6657"/>
                </a:solidFill>
                <a:latin typeface="Styrene A Web"/>
              </a:rPr>
              <a:t>ЧЕСТНАЯ ГРАНИЦА ВЫВОДОВ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12064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500" b="1" i="0">
                <a:solidFill>
                  <a:srgbClr val="1A1A1A"/>
                </a:solidFill>
                <a:latin typeface="Styrene A Web"/>
              </a:rPr>
              <a:t>Главный открытый вопрос: вырос ли бизнес-результат в целом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25880"/>
            <a:ext cx="1051560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A"/>
                </a:solidFill>
                <a:latin typeface="Styrene A Web"/>
              </a:rPr>
              <a:t>Причинный эффект явной цены на итоговую конверсию и выручку ВСЕЙ лотереи статистически НЕ установлен — ни подтверждён, ни опровергнут. Это не «эффекта нет», а «недостаточно мощности отделить эффект кнопки от органического роста продукта».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82512"/>
            <a:ext cx="10728655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0" i="1">
                <a:solidFill>
                  <a:srgbClr val="6E6657"/>
                </a:solidFill>
                <a:latin typeface="Styrene A Web"/>
              </a:rPr>
              <a:t xml:space="preserve">Primary ITT: выручка всей лотереи </a:t>
            </a:r>
            <a:r>
              <a:rPr sz="1000" b="0" i="1">
                <a:solidFill>
                  <a:srgbClr val="6E6657"/>
                </a:solidFill>
                <a:latin typeface="Arial"/>
              </a:rPr>
              <a:t>(</a:t>
            </a:r>
            <a:r>
              <a:rPr sz="1000" b="0" i="1">
                <a:solidFill>
                  <a:srgbClr val="6E6657"/>
                </a:solidFill>
                <a:latin typeface="Styrene A Web"/>
              </a:rPr>
              <a:t>все точки входа</a:t>
            </a:r>
            <a:r>
              <a:rPr sz="1000" b="0" i="1">
                <a:solidFill>
                  <a:srgbClr val="6E6657"/>
                </a:solidFill>
                <a:latin typeface="Arial"/>
              </a:rPr>
              <a:t>)</a:t>
            </a:r>
            <a:r>
              <a:rPr sz="1000" b="0" i="1">
                <a:solidFill>
                  <a:srgbClr val="6E6657"/>
                </a:solidFill>
                <a:latin typeface="Styrene A Web"/>
              </a:rPr>
              <a:t xml:space="preserve"> на 1000 просмотров главного экрана — устойчиво к 4 независимым проверкам спецификации </a:t>
            </a:r>
            <a:r>
              <a:rPr sz="1000" b="0" i="1">
                <a:solidFill>
                  <a:srgbClr val="6E6657"/>
                </a:solidFill>
                <a:latin typeface="Arial"/>
              </a:rPr>
              <a:t>(</a:t>
            </a:r>
            <a:r>
              <a:rPr sz="1000" b="0" i="1">
                <a:solidFill>
                  <a:srgbClr val="6E6657"/>
                </a:solidFill>
                <a:latin typeface="Styrene A Web"/>
              </a:rPr>
              <a:t>день тиража, режим цикла, GLM, нелинейный тренд</a:t>
            </a:r>
            <a:r>
              <a:rPr sz="1000" b="0" i="1">
                <a:solidFill>
                  <a:srgbClr val="6E6657"/>
                </a:solidFill>
                <a:latin typeface="Arial"/>
              </a:rPr>
              <a:t>)</a:t>
            </a:r>
            <a:r>
              <a:rPr sz="1000" b="0" i="1">
                <a:solidFill>
                  <a:srgbClr val="6E6657"/>
                </a:solidFill>
                <a:latin typeface="Styrene A Web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68735" y="6382512"/>
            <a:ext cx="457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1000" b="0" i="0">
                <a:solidFill>
                  <a:srgbClr val="9A9282"/>
                </a:solidFill>
                <a:latin typeface="Styrene A Web"/>
              </a:rPr>
              <a:t>11</a:t>
            </a:r>
          </a:p>
        </p:txBody>
      </p:sp>
      <p:pic>
        <p:nvPicPr>
          <p:cNvPr id="9" name="Picture 8" descr="slide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36292" y="2514600"/>
            <a:ext cx="7488936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0624"/>
            <a:ext cx="82296" cy="530352"/>
          </a:xfrm>
          <a:prstGeom prst="rect">
            <a:avLst/>
          </a:prstGeom>
          <a:solidFill>
            <a:srgbClr val="EF3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56032"/>
            <a:ext cx="8686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1" i="0">
                <a:solidFill>
                  <a:srgbClr val="6E6657"/>
                </a:solidFill>
                <a:latin typeface="Styrene A Web"/>
              </a:rPr>
              <a:t>КОНТЕКСТ — МАСШТАБ И ЕСТЕСТВЕННАЯ ВОЛАТИЛЬНОСТЬ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12064"/>
            <a:ext cx="85039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1A1A1A"/>
                </a:solidFill>
                <a:latin typeface="Styrene A Web"/>
              </a:rPr>
              <a:t xml:space="preserve">Выручка лотереи и так колеблется на </a:t>
            </a:r>
            <a:r>
              <a:rPr sz="2300" b="1" i="0">
                <a:solidFill>
                  <a:srgbClr val="1A1A1A"/>
                </a:solidFill>
                <a:latin typeface="Arial"/>
              </a:rPr>
              <a:t>±</a:t>
            </a:r>
            <a:r>
              <a:rPr sz="2300" b="1" i="0">
                <a:solidFill>
                  <a:srgbClr val="1A1A1A"/>
                </a:solidFill>
                <a:latin typeface="Styrene A Web"/>
              </a:rPr>
              <a:t>30</a:t>
            </a:r>
            <a:r>
              <a:rPr sz="2300" b="1" i="0">
                <a:solidFill>
                  <a:srgbClr val="1A1A1A"/>
                </a:solidFill>
                <a:latin typeface="Arial"/>
              </a:rPr>
              <a:t>%</a:t>
            </a:r>
            <a:r>
              <a:rPr sz="2300" b="1" i="0">
                <a:solidFill>
                  <a:srgbClr val="1A1A1A"/>
                </a:solidFill>
                <a:latin typeface="Styrene A Web"/>
              </a:rPr>
              <a:t xml:space="preserve"> между тиражами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92640" y="457200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FBEFD2"/>
          </a:solidFill>
          <a:ln>
            <a:noFill/>
          </a:ln>
          <a:effectLst>
            <a:outerShdw blurRad="76200" dist="254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1150" b="1">
                <a:solidFill>
                  <a:srgbClr val="9A6B00"/>
                </a:solidFill>
                <a:latin typeface="Styrene A Web"/>
              </a:rPr>
              <a:t>Описательный контекст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280160"/>
            <a:ext cx="1051560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 i="0">
                <a:solidFill>
                  <a:srgbClr val="6E6657"/>
                </a:solidFill>
                <a:latin typeface="Styrene A Web"/>
              </a:rPr>
              <a:t>Выручка всей лотереи</a:t>
            </a:r>
            <a:r>
              <a:rPr sz="1250" b="0" i="0">
                <a:solidFill>
                  <a:srgbClr val="6E6657"/>
                </a:solidFill>
                <a:latin typeface="Styrene A Web"/>
              </a:rPr>
              <a:t> по тиражам 14-27 — без привязки к кнопке. Показывает масштаб, на фоне которого нужно смотреть на primary ITT</a:t>
            </a:r>
            <a:r>
              <a:rPr sz="1250" b="0" i="0">
                <a:solidFill>
                  <a:srgbClr val="6E6657"/>
                </a:solidFill>
                <a:latin typeface="Styrene A Web"/>
              </a:rPr>
              <a:t>: естественный разброс между тиражами в разы больше, чем эффект, который мы пытаемся обнаружить на уровне всего продукта.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901952"/>
            <a:ext cx="10607040" cy="6217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76200" dist="254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20240"/>
            <a:ext cx="15544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EF3124"/>
                </a:solidFill>
                <a:latin typeface="Styrene A Web"/>
              </a:rPr>
              <a:t>Простыми словами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4600" y="1920240"/>
            <a:ext cx="86868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1A1A1A"/>
                </a:solidFill>
                <a:latin typeface="Styrene A Web"/>
              </a:rPr>
              <a:t xml:space="preserve">Выручка тиража и раньше прыгала от 29 до 50 млн </a:t>
            </a:r>
            <a:r>
              <a:rPr sz="1150" b="0" i="0">
                <a:solidFill>
                  <a:srgbClr val="1A1A1A"/>
                </a:solidFill>
                <a:latin typeface="Arial"/>
              </a:rPr>
              <a:t>₽</a:t>
            </a:r>
            <a:r>
              <a:rPr sz="1150" b="0" i="0">
                <a:solidFill>
                  <a:srgbClr val="1A1A1A"/>
                </a:solidFill>
                <a:latin typeface="Styrene A Web"/>
              </a:rPr>
              <a:t xml:space="preserve"> без всякой кнопки. Тираж 25, в который попало изменение </a:t>
            </a:r>
            <a:r>
              <a:rPr sz="1150" b="0" i="0">
                <a:solidFill>
                  <a:srgbClr val="1A1A1A"/>
                </a:solidFill>
                <a:latin typeface="Arial"/>
              </a:rPr>
              <a:t>(</a:t>
            </a:r>
            <a:r>
              <a:rPr sz="1150" b="0" i="0">
                <a:solidFill>
                  <a:srgbClr val="1A1A1A"/>
                </a:solidFill>
                <a:latin typeface="Styrene A Web"/>
              </a:rPr>
              <a:t>14.09</a:t>
            </a:r>
            <a:r>
              <a:rPr sz="1150" b="0" i="0">
                <a:solidFill>
                  <a:srgbClr val="1A1A1A"/>
                </a:solidFill>
                <a:latin typeface="Arial"/>
              </a:rPr>
              <a:t>)</a:t>
            </a:r>
            <a:r>
              <a:rPr sz="1150" b="0" i="0">
                <a:solidFill>
                  <a:srgbClr val="1A1A1A"/>
                </a:solidFill>
                <a:latin typeface="Styrene A Web"/>
              </a:rPr>
              <a:t>, — 33 млн, ничем не выделяется на фоне соседей. Поэтому маленький эффект на уровне всего продукта статистически и не видно.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35240" y="2697480"/>
            <a:ext cx="36118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76200" dist="254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18120" y="2770632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850" b="1" i="0">
                <a:solidFill>
                  <a:srgbClr val="EF3124"/>
                </a:solidFill>
                <a:latin typeface="Styrene A Web"/>
              </a:rPr>
              <a:t xml:space="preserve">15–50 млн </a:t>
            </a:r>
            <a:r>
              <a:rPr sz="1850" b="1" i="0">
                <a:solidFill>
                  <a:srgbClr val="EF3124"/>
                </a:solidFill>
                <a:latin typeface="Arial"/>
              </a:rPr>
              <a:t>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3200400"/>
            <a:ext cx="32918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6E6657"/>
                </a:solidFill>
                <a:latin typeface="Styrene A Web"/>
              </a:rPr>
              <a:t>размах выручки тиража без каких-либо изменений кнопки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35240" y="3749040"/>
            <a:ext cx="36118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76200" dist="254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18120" y="3822192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850" b="1" i="0">
                <a:solidFill>
                  <a:srgbClr val="EF3124"/>
                </a:solidFill>
                <a:latin typeface="Styrene A Web"/>
              </a:rPr>
              <a:t>Тираж 25 — 33 млн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18120" y="4251960"/>
            <a:ext cx="32918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6E6657"/>
                </a:solidFill>
                <a:latin typeface="Styrene A Web"/>
              </a:rPr>
              <a:t>ровно в середине диапазона соседних тиражей, не выброс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35240" y="4846320"/>
            <a:ext cx="3611880" cy="777240"/>
          </a:xfrm>
          <a:prstGeom prst="roundRect">
            <a:avLst>
              <a:gd name="adj" fmla="val 10000"/>
            </a:avLst>
          </a:prstGeom>
          <a:solidFill>
            <a:srgbClr val="EDEDED"/>
          </a:solidFill>
          <a:ln>
            <a:noFill/>
          </a:ln>
          <a:effectLst>
            <a:outerShdw blurRad="76200" dist="254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>
                <a:solidFill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18120" y="4910328"/>
            <a:ext cx="32918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6E6657"/>
                </a:solidFill>
                <a:latin typeface="Styrene A Web"/>
              </a:rPr>
              <a:t>Метод: описательная агрегация purchases</a:t>
            </a:r>
            <a:r>
              <a:rPr sz="950" b="0" i="0">
                <a:solidFill>
                  <a:srgbClr val="6E6657"/>
                </a:solidFill>
                <a:latin typeface="Arial"/>
              </a:rPr>
              <a:t>/</a:t>
            </a:r>
            <a:r>
              <a:rPr sz="950" b="0" i="0">
                <a:solidFill>
                  <a:srgbClr val="6E6657"/>
                </a:solidFill>
                <a:latin typeface="Styrene A Web"/>
              </a:rPr>
              <a:t>revenue по draw</a:t>
            </a:r>
            <a:r>
              <a:rPr sz="950" b="0" i="0">
                <a:solidFill>
                  <a:srgbClr val="6E6657"/>
                </a:solidFill>
                <a:latin typeface="Arial"/>
              </a:rPr>
              <a:t>_</a:t>
            </a:r>
            <a:r>
              <a:rPr sz="950" b="0" i="0">
                <a:solidFill>
                  <a:srgbClr val="6E6657"/>
                </a:solidFill>
                <a:latin typeface="Styrene A Web"/>
              </a:rPr>
              <a:t xml:space="preserve">number, вся лотерея. Не причинный тест. Тираж 27 ещё идёт на дату выгрузки </a:t>
            </a:r>
            <a:r>
              <a:rPr sz="950" b="0" i="0">
                <a:solidFill>
                  <a:srgbClr val="6E6657"/>
                </a:solidFill>
                <a:latin typeface="Arial"/>
              </a:rPr>
              <a:t>(</a:t>
            </a:r>
            <a:r>
              <a:rPr sz="950" b="0" i="0">
                <a:solidFill>
                  <a:srgbClr val="6E6657"/>
                </a:solidFill>
                <a:latin typeface="Styrene A Web"/>
              </a:rPr>
              <a:t>06.10</a:t>
            </a:r>
            <a:r>
              <a:rPr sz="950" b="0" i="0">
                <a:solidFill>
                  <a:srgbClr val="6E6657"/>
                </a:solidFill>
                <a:latin typeface="Arial"/>
              </a:rPr>
              <a:t>)</a:t>
            </a:r>
            <a:r>
              <a:rPr sz="950" b="0" i="0">
                <a:solidFill>
                  <a:srgbClr val="6E6657"/>
                </a:solidFill>
                <a:latin typeface="Styrene A Web"/>
              </a:rPr>
              <a:t xml:space="preserve"> — неполный, для сравнений не используется.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68735" y="6382512"/>
            <a:ext cx="457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1000" b="0" i="0">
                <a:solidFill>
                  <a:srgbClr val="9A9282"/>
                </a:solidFill>
                <a:latin typeface="Styrene A Web"/>
              </a:rPr>
              <a:t>12</a:t>
            </a:r>
          </a:p>
        </p:txBody>
      </p:sp>
      <p:pic>
        <p:nvPicPr>
          <p:cNvPr id="20" name="Picture 19" descr="14_longterm_reven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467" y="2697480"/>
            <a:ext cx="6554665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31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9144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000" b="1" i="0">
                <a:solidFill>
                  <a:srgbClr val="FFFFFF"/>
                </a:solidFill>
                <a:latin typeface="Styrene A Web"/>
              </a:rPr>
              <a:t>Рекомендации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77240" y="1554480"/>
            <a:ext cx="1060704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>
            <a:outerShdw blurRad="76200" dist="254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664208"/>
            <a:ext cx="548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400" b="1" i="0">
                <a:solidFill>
                  <a:srgbClr val="EF3124"/>
                </a:solidFill>
                <a:latin typeface="Styrene A Web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91640" y="1664208"/>
            <a:ext cx="94183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 i="0">
                <a:solidFill>
                  <a:srgbClr val="1A1A1A"/>
                </a:solidFill>
                <a:latin typeface="Styrene A Web"/>
              </a:rPr>
              <a:t>Кнопку не откатывать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91640" y="2066544"/>
            <a:ext cx="9418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6E6657"/>
                </a:solidFill>
                <a:latin typeface="Styrene A Web"/>
              </a:rPr>
              <a:t>Доказанного вреда нет: пакеты не пострадали, выручка экрана выросла, эффект не привязан к одной платформе.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770632"/>
            <a:ext cx="1060704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>
            <a:outerShdw blurRad="76200" dist="254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880360"/>
            <a:ext cx="548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400" b="1" i="0">
                <a:solidFill>
                  <a:srgbClr val="EF3124"/>
                </a:solidFill>
                <a:latin typeface="Styrene A Web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880360"/>
            <a:ext cx="94183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 i="0">
                <a:solidFill>
                  <a:srgbClr val="1A1A1A"/>
                </a:solidFill>
                <a:latin typeface="Styrene A Web"/>
              </a:rPr>
              <a:t>Не заявлять рост выручки</a:t>
            </a:r>
            <a:r>
              <a:rPr sz="1500" b="1" i="0">
                <a:solidFill>
                  <a:srgbClr val="1A1A1A"/>
                </a:solidFill>
                <a:latin typeface="Arial"/>
              </a:rPr>
              <a:t>/</a:t>
            </a:r>
            <a:r>
              <a:rPr sz="1500" b="1" i="0">
                <a:solidFill>
                  <a:srgbClr val="1A1A1A"/>
                </a:solidFill>
                <a:latin typeface="Styrene A Web"/>
              </a:rPr>
              <a:t>конверсии всего продукта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3282696"/>
            <a:ext cx="9418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6E6657"/>
                </a:solidFill>
                <a:latin typeface="Styrene A Web"/>
              </a:rPr>
              <a:t>Это не подтверждено — формулировка должна оставаться на уровне экрана кнопки, не всей лотереи.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3986784"/>
            <a:ext cx="1060704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>
            <a:outerShdw blurRad="76200" dist="254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096512"/>
            <a:ext cx="548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400" b="1" i="0">
                <a:solidFill>
                  <a:srgbClr val="EF3124"/>
                </a:solidFill>
                <a:latin typeface="Styrene A Web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4096512"/>
            <a:ext cx="94183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 i="0">
                <a:solidFill>
                  <a:srgbClr val="1A1A1A"/>
                </a:solidFill>
                <a:latin typeface="Styrene A Web"/>
              </a:rPr>
              <a:t>Продолжить наблюдение за отказами оплаты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4498848"/>
            <a:ext cx="9418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6E6657"/>
                </a:solidFill>
                <a:latin typeface="Styrene A Web"/>
              </a:rPr>
              <a:t xml:space="preserve">Направление тревожное </a:t>
            </a:r>
            <a:r>
              <a:rPr sz="1150" b="0" i="0">
                <a:solidFill>
                  <a:srgbClr val="6E6657"/>
                </a:solidFill>
                <a:latin typeface="Arial"/>
              </a:rPr>
              <a:t>(</a:t>
            </a:r>
            <a:r>
              <a:rPr sz="1150" b="0" i="0">
                <a:solidFill>
                  <a:srgbClr val="6E6657"/>
                </a:solidFill>
                <a:latin typeface="Arial"/>
              </a:rPr>
              <a:t>+</a:t>
            </a:r>
            <a:r>
              <a:rPr sz="1150" b="0" i="0">
                <a:solidFill>
                  <a:srgbClr val="6E6657"/>
                </a:solidFill>
                <a:latin typeface="Styrene A Web"/>
              </a:rPr>
              <a:t>71</a:t>
            </a:r>
            <a:r>
              <a:rPr sz="1150" b="0" i="0">
                <a:solidFill>
                  <a:srgbClr val="6E6657"/>
                </a:solidFill>
                <a:latin typeface="Arial"/>
              </a:rPr>
              <a:t>%</a:t>
            </a:r>
            <a:r>
              <a:rPr sz="1150" b="0" i="0">
                <a:solidFill>
                  <a:srgbClr val="6E6657"/>
                </a:solidFill>
                <a:latin typeface="Styrene A Web"/>
              </a:rPr>
              <a:t xml:space="preserve"> отн.</a:t>
            </a:r>
            <a:r>
              <a:rPr sz="1150" b="0" i="0">
                <a:solidFill>
                  <a:srgbClr val="6E6657"/>
                </a:solidFill>
                <a:latin typeface="Arial"/>
              </a:rPr>
              <a:t>)</a:t>
            </a:r>
            <a:r>
              <a:rPr sz="1150" b="0" i="0">
                <a:solidFill>
                  <a:srgbClr val="6E6657"/>
                </a:solidFill>
                <a:latin typeface="Styrene A Web"/>
              </a:rPr>
              <a:t>, но пока не доказано статистически.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202936"/>
            <a:ext cx="1060704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>
            <a:outerShdw blurRad="76200" dist="254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312664"/>
            <a:ext cx="548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400" b="1" i="0">
                <a:solidFill>
                  <a:srgbClr val="EF3124"/>
                </a:solidFill>
                <a:latin typeface="Styrene A Web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" y="5312664"/>
            <a:ext cx="94183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 i="0">
                <a:solidFill>
                  <a:srgbClr val="1A1A1A"/>
                </a:solidFill>
                <a:latin typeface="Styrene A Web"/>
              </a:rPr>
              <a:t>Для честного ответа о выручке всего продукта — нужен holdout-тест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5715000"/>
            <a:ext cx="9418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6E6657"/>
                </a:solidFill>
                <a:latin typeface="Styrene A Web"/>
              </a:rPr>
              <a:t>Вернуть старый текст 5–10</a:t>
            </a:r>
            <a:r>
              <a:rPr sz="1150" b="0" i="0">
                <a:solidFill>
                  <a:srgbClr val="6E6657"/>
                </a:solidFill>
                <a:latin typeface="Arial"/>
              </a:rPr>
              <a:t>%</a:t>
            </a:r>
            <a:r>
              <a:rPr sz="1150" b="0" i="0">
                <a:solidFill>
                  <a:srgbClr val="6E6657"/>
                </a:solidFill>
                <a:latin typeface="Styrene A Web"/>
              </a:rPr>
              <a:t xml:space="preserve"> пользователей на 2–3 тиража с заранее зафиксированной метрикой </a:t>
            </a:r>
            <a:r>
              <a:rPr sz="1150" b="0" i="0">
                <a:solidFill>
                  <a:srgbClr val="6E6657"/>
                </a:solidFill>
                <a:latin typeface="Arial"/>
              </a:rPr>
              <a:t>(</a:t>
            </a:r>
            <a:r>
              <a:rPr sz="1150" b="0" i="0">
                <a:solidFill>
                  <a:srgbClr val="6E6657"/>
                </a:solidFill>
                <a:latin typeface="Styrene A Web"/>
              </a:rPr>
              <a:t>покупки</a:t>
            </a:r>
            <a:r>
              <a:rPr sz="1150" b="0" i="0">
                <a:solidFill>
                  <a:srgbClr val="6E6657"/>
                </a:solidFill>
                <a:latin typeface="Arial"/>
              </a:rPr>
              <a:t>/</a:t>
            </a:r>
            <a:r>
              <a:rPr sz="1150" b="0" i="0">
                <a:solidFill>
                  <a:srgbClr val="6E6657"/>
                </a:solidFill>
                <a:latin typeface="Styrene A Web"/>
              </a:rPr>
              <a:t>выручка на клиента, ITT</a:t>
            </a:r>
            <a:r>
              <a:rPr sz="1150" b="0" i="0">
                <a:solidFill>
                  <a:srgbClr val="6E6657"/>
                </a:solidFill>
                <a:latin typeface="Arial"/>
              </a:rPr>
              <a:t>)</a:t>
            </a:r>
            <a:r>
              <a:rPr sz="1150" b="0" i="0">
                <a:solidFill>
                  <a:srgbClr val="6E6657"/>
                </a:solidFill>
                <a:latin typeface="Styrene A Web"/>
              </a:rPr>
              <a:t>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68735" y="6382512"/>
            <a:ext cx="457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1000" b="0" i="0">
                <a:solidFill>
                  <a:srgbClr val="9A9282"/>
                </a:solidFill>
                <a:latin typeface="Styrene A Web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0624"/>
            <a:ext cx="82296" cy="530352"/>
          </a:xfrm>
          <a:prstGeom prst="rect">
            <a:avLst/>
          </a:prstGeom>
          <a:solidFill>
            <a:srgbClr val="EF3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56032"/>
            <a:ext cx="9601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1" i="0">
                <a:solidFill>
                  <a:srgbClr val="6E6657"/>
                </a:solidFill>
                <a:latin typeface="Styrene A Web"/>
              </a:rPr>
              <a:t>ПРИЛОЖЕНИЕ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12064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500" b="1" i="0">
                <a:solidFill>
                  <a:srgbClr val="1A1A1A"/>
                </a:solidFill>
                <a:latin typeface="Styrene A Web"/>
              </a:rPr>
              <a:t>Методология и воспроизводимость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258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 i="0">
                <a:solidFill>
                  <a:srgbClr val="6E6657"/>
                </a:solidFill>
                <a:latin typeface="Styrene A Web"/>
              </a:rPr>
              <a:t>Каждая цифра получена одним и тем же воспроизводимым паттерном — ключевая спецификация ниже.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874519"/>
            <a:ext cx="10607040" cy="1691640"/>
          </a:xfrm>
          <a:prstGeom prst="roundRect">
            <a:avLst>
              <a:gd name="adj" fmla="val 6000"/>
            </a:avLst>
          </a:prstGeom>
          <a:solidFill>
            <a:srgbClr val="1A1A1A"/>
          </a:solidFill>
          <a:ln>
            <a:noFill/>
          </a:ln>
          <a:effectLst>
            <a:outerShdw blurRad="76200" dist="254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057400"/>
            <a:ext cx="100584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 i="0">
                <a:solidFill>
                  <a:srgbClr val="EDE6D8"/>
                </a:solidFill>
                <a:latin typeface="JetBrains Mono"/>
              </a:rPr>
              <a:t>model = smf.ols(</a:t>
            </a:r>
          </a:p>
          <a:p>
            <a:pPr algn="l">
              <a:lnSpc>
                <a:spcPct val="140000"/>
              </a:lnSpc>
            </a:pPr>
            <a:r>
              <a:rPr sz="1350" b="0" i="0">
                <a:solidFill>
                  <a:srgbClr val="EDE6D8"/>
                </a:solidFill>
                <a:latin typeface="JetBrains Mono"/>
              </a:rPr>
              <a:t>    "metric ~ post + t + draw_day + C(dow)",</a:t>
            </a:r>
          </a:p>
          <a:p>
            <a:pPr algn="l">
              <a:lnSpc>
                <a:spcPct val="140000"/>
              </a:lnSpc>
            </a:pPr>
            <a:r>
              <a:rPr sz="1350" b="0" i="0">
                <a:solidFill>
                  <a:srgbClr val="EDE6D8"/>
                </a:solidFill>
                <a:latin typeface="JetBrains Mono"/>
              </a:rPr>
              <a:t>    data=df</a:t>
            </a:r>
          </a:p>
          <a:p>
            <a:pPr algn="l">
              <a:lnSpc>
                <a:spcPct val="140000"/>
              </a:lnSpc>
            </a:pPr>
            <a:r>
              <a:rPr sz="1350" b="0" i="0">
                <a:solidFill>
                  <a:srgbClr val="EDE6D8"/>
                </a:solidFill>
                <a:latin typeface="JetBrains Mono"/>
              </a:rPr>
              <a:t>).fit(cov_type="cluster", cov_kwds={"groups": df["week"]})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84048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300">
                <a:solidFill>
                  <a:srgbClr val="1A1A1A"/>
                </a:solidFill>
                <a:latin typeface="Styrene A Web"/>
              </a:rPr>
              <a:t>●  Within-screen DiD: пакеты как честный контроль того же экрана — обязательна проверка параллельных трендов до интерпретации.</a:t>
            </a:r>
          </a:p>
          <a:p>
            <a:pPr>
              <a:spcAft>
                <a:spcPts val="1400"/>
              </a:spcAft>
            </a:pPr>
            <a:r>
              <a:rPr sz="1300">
                <a:solidFill>
                  <a:srgbClr val="1A1A1A"/>
                </a:solidFill>
                <a:latin typeface="Styrene A Web"/>
              </a:rPr>
              <a:t xml:space="preserve">●  Quasi-binomial GLM: кросс-проверка ITS на долях с поправкой на избыточную дисперсию </a:t>
            </a:r>
            <a:r>
              <a:rPr sz="1300">
                <a:solidFill>
                  <a:srgbClr val="1A1A1A"/>
                </a:solidFill>
                <a:latin typeface="Arial"/>
              </a:rPr>
              <a:t>(</a:t>
            </a:r>
            <a:r>
              <a:rPr sz="1300">
                <a:solidFill>
                  <a:srgbClr val="1A1A1A"/>
                </a:solidFill>
                <a:latin typeface="Styrene A Web"/>
              </a:rPr>
              <a:t xml:space="preserve">была </a:t>
            </a:r>
            <a:r>
              <a:rPr sz="1300">
                <a:solidFill>
                  <a:srgbClr val="1A1A1A"/>
                </a:solidFill>
                <a:latin typeface="Arial"/>
              </a:rPr>
              <a:t>×</a:t>
            </a:r>
            <a:r>
              <a:rPr sz="1300">
                <a:solidFill>
                  <a:srgbClr val="1A1A1A"/>
                </a:solidFill>
                <a:latin typeface="Styrene A Web"/>
              </a:rPr>
              <a:t>42 для H1</a:t>
            </a:r>
            <a:r>
              <a:rPr sz="1300">
                <a:solidFill>
                  <a:srgbClr val="1A1A1A"/>
                </a:solidFill>
                <a:latin typeface="Arial"/>
              </a:rPr>
              <a:t>)</a:t>
            </a:r>
            <a:r>
              <a:rPr sz="1300">
                <a:solidFill>
                  <a:srgbClr val="1A1A1A"/>
                </a:solidFill>
                <a:latin typeface="Styrene A Web"/>
              </a:rPr>
              <a:t>.</a:t>
            </a:r>
          </a:p>
          <a:p>
            <a:pPr>
              <a:spcAft>
                <a:spcPts val="1400"/>
              </a:spcAft>
            </a:pPr>
            <a:r>
              <a:rPr sz="1300">
                <a:solidFill>
                  <a:srgbClr val="1A1A1A"/>
                </a:solidFill>
                <a:latin typeface="Styrene A Web"/>
              </a:rPr>
              <a:t xml:space="preserve">●  Отвергнуто и почему: synthetic control </a:t>
            </a:r>
            <a:r>
              <a:rPr sz="1300">
                <a:solidFill>
                  <a:srgbClr val="1A1A1A"/>
                </a:solidFill>
                <a:latin typeface="Arial"/>
              </a:rPr>
              <a:t>(</a:t>
            </a:r>
            <a:r>
              <a:rPr sz="1300">
                <a:solidFill>
                  <a:srgbClr val="1A1A1A"/>
                </a:solidFill>
                <a:latin typeface="Styrene A Web"/>
              </a:rPr>
              <a:t>нет честного донор-пула</a:t>
            </a:r>
            <a:r>
              <a:rPr sz="1300">
                <a:solidFill>
                  <a:srgbClr val="1A1A1A"/>
                </a:solidFill>
                <a:latin typeface="Arial"/>
              </a:rPr>
              <a:t>)</a:t>
            </a:r>
            <a:r>
              <a:rPr sz="1300">
                <a:solidFill>
                  <a:srgbClr val="1A1A1A"/>
                </a:solidFill>
                <a:latin typeface="Styrene A Web"/>
              </a:rPr>
              <a:t xml:space="preserve">, квадратичный тренд </a:t>
            </a:r>
            <a:r>
              <a:rPr sz="1300">
                <a:solidFill>
                  <a:srgbClr val="1A1A1A"/>
                </a:solidFill>
                <a:latin typeface="Arial"/>
              </a:rPr>
              <a:t>(</a:t>
            </a:r>
            <a:r>
              <a:rPr sz="1300">
                <a:solidFill>
                  <a:srgbClr val="1A1A1A"/>
                </a:solidFill>
                <a:latin typeface="Styrene A Web"/>
              </a:rPr>
              <a:t>переобучение, хуже на отложенной выборке</a:t>
            </a:r>
            <a:r>
              <a:rPr sz="1300">
                <a:solidFill>
                  <a:srgbClr val="1A1A1A"/>
                </a:solidFill>
                <a:latin typeface="Arial"/>
              </a:rPr>
              <a:t>)</a:t>
            </a:r>
            <a:r>
              <a:rPr sz="1300">
                <a:solidFill>
                  <a:srgbClr val="1A1A1A"/>
                </a:solidFill>
                <a:latin typeface="Styrene A Web"/>
              </a:rPr>
              <a:t xml:space="preserve">, пулированные z-тесты по покупкам </a:t>
            </a:r>
            <a:r>
              <a:rPr sz="1300">
                <a:solidFill>
                  <a:srgbClr val="1A1A1A"/>
                </a:solidFill>
                <a:latin typeface="Arial"/>
              </a:rPr>
              <a:t>(</a:t>
            </a:r>
            <a:r>
              <a:rPr sz="1300">
                <a:solidFill>
                  <a:srgbClr val="1A1A1A"/>
                </a:solidFill>
                <a:latin typeface="Styrene A Web"/>
              </a:rPr>
              <a:t>псевдорепликация, завышают значимость в 10–100 раз</a:t>
            </a:r>
            <a:r>
              <a:rPr sz="1300">
                <a:solidFill>
                  <a:srgbClr val="1A1A1A"/>
                </a:solidFill>
                <a:latin typeface="Arial"/>
              </a:rPr>
              <a:t>)</a:t>
            </a:r>
            <a:r>
              <a:rPr sz="1300">
                <a:solidFill>
                  <a:srgbClr val="1A1A1A"/>
                </a:solidFill>
                <a:latin typeface="Styrene A Web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82512"/>
            <a:ext cx="10728655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0" i="1">
                <a:solidFill>
                  <a:srgbClr val="6E6657"/>
                </a:solidFill>
                <a:latin typeface="Styrene A Web"/>
              </a:rPr>
              <a:t xml:space="preserve">Полный код, SQL-скрипты и журнал ревизии — во внутренней документации проекта </a:t>
            </a:r>
            <a:r>
              <a:rPr sz="1000" b="0" i="1">
                <a:solidFill>
                  <a:srgbClr val="6E6657"/>
                </a:solidFill>
                <a:latin typeface="Arial"/>
              </a:rPr>
              <a:t>(</a:t>
            </a:r>
            <a:r>
              <a:rPr sz="1000" b="0" i="1">
                <a:solidFill>
                  <a:srgbClr val="6E6657"/>
                </a:solidFill>
                <a:latin typeface="Styrene A Web"/>
              </a:rPr>
              <a:t>HANDOFF-buybutton.md</a:t>
            </a:r>
            <a:r>
              <a:rPr sz="1000" b="0" i="1">
                <a:solidFill>
                  <a:srgbClr val="6E6657"/>
                </a:solidFill>
                <a:latin typeface="Arial"/>
              </a:rPr>
              <a:t>)</a:t>
            </a:r>
            <a:r>
              <a:rPr sz="1000" b="0" i="1">
                <a:solidFill>
                  <a:srgbClr val="6E6657"/>
                </a:solidFill>
                <a:latin typeface="Styrene A Web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68735" y="6382512"/>
            <a:ext cx="457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1000" b="0" i="0">
                <a:solidFill>
                  <a:srgbClr val="9A9282"/>
                </a:solidFill>
                <a:latin typeface="Styrene A Web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